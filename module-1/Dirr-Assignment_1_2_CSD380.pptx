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582324fbcb14cbf" /><Relationship Type="http://schemas.openxmlformats.org/officeDocument/2006/relationships/extended-properties" Target="/docProps/app.xml" Id="R7a3725deed7241ef" /><Relationship Type="http://schemas.openxmlformats.org/officeDocument/2006/relationships/officeDocument" Target="/ppt/presentation.xml" Id="R5a73e6ec89d545f7" /></Relationships>
</file>

<file path=ppt/presentation.xml><?xml version="1.0" encoding="utf-8"?>
<p:presentation xmlns:p="http://schemas.openxmlformats.org/presentationml/2006/main">
  <p:sldMasterIdLst>
    <p:sldMasterId xmlns:r="http://schemas.openxmlformats.org/officeDocument/2006/relationships" id="2147483648" r:id="R5ad48a0cd9d34e25"/>
  </p:sldMasterIdLst>
  <p:notesMasterIdLst>
    <p:notesMasterId xmlns:r="http://schemas.openxmlformats.org/officeDocument/2006/relationships" r:id="R7d459b73c4a64efb"/>
  </p:notesMasterIdLst>
  <p:sldIdLst>
    <p:sldId xmlns:r="http://schemas.openxmlformats.org/officeDocument/2006/relationships" id="256" r:id="R5d40c85ddbca4297"/>
    <p:sldId xmlns:r="http://schemas.openxmlformats.org/officeDocument/2006/relationships" id="257" r:id="R77daa81199754ded"/>
    <p:sldId xmlns:r="http://schemas.openxmlformats.org/officeDocument/2006/relationships" id="258" r:id="Rbc1021f2e3734919"/>
    <p:sldId xmlns:r="http://schemas.openxmlformats.org/officeDocument/2006/relationships" id="259" r:id="R06bbff8ed0e54dd6"/>
    <p:sldId xmlns:r="http://schemas.openxmlformats.org/officeDocument/2006/relationships" id="260" r:id="R54b2eca2ad29430c"/>
    <p:sldId xmlns:r="http://schemas.openxmlformats.org/officeDocument/2006/relationships" id="261" r:id="Re2fb130766a34a7d"/>
    <p:sldId xmlns:r="http://schemas.openxmlformats.org/officeDocument/2006/relationships" id="262" r:id="Ra0238aefa7b4434a"/>
    <p:sldId xmlns:r="http://schemas.openxmlformats.org/officeDocument/2006/relationships" id="263" r:id="Rd1d25c602328444e"/>
    <p:sldId xmlns:r="http://schemas.openxmlformats.org/officeDocument/2006/relationships" id="264" r:id="R586634a830714e7d"/>
    <p:sldId xmlns:r="http://schemas.openxmlformats.org/officeDocument/2006/relationships" id="265" r:id="R038785bf60c94c1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453614457714c23" /><Relationship Type="http://schemas.openxmlformats.org/officeDocument/2006/relationships/slideMaster" Target="/ppt/slideMasters/slideMaster1.xml" Id="R5ad48a0cd9d34e25" /><Relationship Type="http://schemas.openxmlformats.org/officeDocument/2006/relationships/notesMaster" Target="/ppt/notesMasters/notesMaster1.xml" Id="R7d459b73c4a64efb" /><Relationship Type="http://schemas.openxmlformats.org/officeDocument/2006/relationships/presProps" Target="/ppt/presProps.xml" Id="R881fb7930d54469b" /><Relationship Type="http://schemas.openxmlformats.org/officeDocument/2006/relationships/tableStyles" Target="/ppt/tableStyles.xml" Id="Re606dc52d8584331" /><Relationship Type="http://schemas.openxmlformats.org/officeDocument/2006/relationships/slide" Target="/ppt/slides/slide1.xml" Id="R5d40c85ddbca4297" /><Relationship Type="http://schemas.openxmlformats.org/officeDocument/2006/relationships/slide" Target="/ppt/slides/slide2.xml" Id="R77daa81199754ded" /><Relationship Type="http://schemas.openxmlformats.org/officeDocument/2006/relationships/slide" Target="/ppt/slides/slide3.xml" Id="Rbc1021f2e3734919" /><Relationship Type="http://schemas.openxmlformats.org/officeDocument/2006/relationships/slide" Target="/ppt/slides/slide4.xml" Id="R06bbff8ed0e54dd6" /><Relationship Type="http://schemas.openxmlformats.org/officeDocument/2006/relationships/slide" Target="/ppt/slides/slide5.xml" Id="R54b2eca2ad29430c" /><Relationship Type="http://schemas.openxmlformats.org/officeDocument/2006/relationships/slide" Target="/ppt/slides/slide6.xml" Id="Re2fb130766a34a7d" /><Relationship Type="http://schemas.openxmlformats.org/officeDocument/2006/relationships/slide" Target="/ppt/slides/slide7.xml" Id="Ra0238aefa7b4434a" /><Relationship Type="http://schemas.openxmlformats.org/officeDocument/2006/relationships/slide" Target="/ppt/slides/slide8.xml" Id="Rd1d25c602328444e" /><Relationship Type="http://schemas.openxmlformats.org/officeDocument/2006/relationships/slide" Target="/ppt/slides/slide9.xml" Id="R586634a830714e7d" /><Relationship Type="http://schemas.openxmlformats.org/officeDocument/2006/relationships/slide" Target="/ppt/slides/slide10.xml" Id="R038785bf60c94c1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052e1d3eb044e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4f2b26ab97645c6" /><Relationship Type="http://schemas.openxmlformats.org/officeDocument/2006/relationships/notesMaster" Target="/ppt/notesMasters/notesMaster1.xml" Id="R2ce5d73c70bd453b" /></Relationships>
</file>

<file path=ppt/notesSlides/_rels/notesSlide2.xml.rels>&#65279;<?xml version="1.0" encoding="utf-8"?><Relationships xmlns="http://schemas.openxmlformats.org/package/2006/relationships"><Relationship Type="http://schemas.openxmlformats.org/officeDocument/2006/relationships/slide" Target="/ppt/slides/slide2.xml" Id="R768d8840edf0466c" /><Relationship Type="http://schemas.openxmlformats.org/officeDocument/2006/relationships/notesMaster" Target="/ppt/notesMasters/notesMaster1.xml" Id="R1579ac01ca704b12"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e64f1939744541" /><Relationship Type="http://schemas.openxmlformats.org/officeDocument/2006/relationships/notesMaster" Target="/ppt/notesMasters/notesMaster1.xml" Id="R53f59aa3f52f4f6b" /></Relationships>
</file>

<file path=ppt/notesSlides/_rels/notesSlide4.xml.rels>&#65279;<?xml version="1.0" encoding="utf-8"?><Relationships xmlns="http://schemas.openxmlformats.org/package/2006/relationships"><Relationship Type="http://schemas.openxmlformats.org/officeDocument/2006/relationships/slide" Target="/ppt/slides/slide4.xml" Id="R65c1175b0eba44d9" /><Relationship Type="http://schemas.openxmlformats.org/officeDocument/2006/relationships/notesMaster" Target="/ppt/notesMasters/notesMaster1.xml" Id="R4720164eb32a4336" /></Relationships>
</file>

<file path=ppt/notesSlides/_rels/notesSlide5.xml.rels>&#65279;<?xml version="1.0" encoding="utf-8"?><Relationships xmlns="http://schemas.openxmlformats.org/package/2006/relationships"><Relationship Type="http://schemas.openxmlformats.org/officeDocument/2006/relationships/slide" Target="/ppt/slides/slide5.xml" Id="Radbb947e7c594bb4" /><Relationship Type="http://schemas.openxmlformats.org/officeDocument/2006/relationships/notesMaster" Target="/ppt/notesMasters/notesMaster1.xml" Id="R79530dc070cc4a17" /></Relationships>
</file>

<file path=ppt/notesSlides/_rels/notesSlide6.xml.rels>&#65279;<?xml version="1.0" encoding="utf-8"?><Relationships xmlns="http://schemas.openxmlformats.org/package/2006/relationships"><Relationship Type="http://schemas.openxmlformats.org/officeDocument/2006/relationships/slide" Target="/ppt/slides/slide6.xml" Id="R033ee2d68c5a4b9d" /><Relationship Type="http://schemas.openxmlformats.org/officeDocument/2006/relationships/notesMaster" Target="/ppt/notesMasters/notesMaster1.xml" Id="Re168e71c75c04bfb" /></Relationships>
</file>

<file path=ppt/notesSlides/_rels/notesSlide7.xml.rels>&#65279;<?xml version="1.0" encoding="utf-8"?><Relationships xmlns="http://schemas.openxmlformats.org/package/2006/relationships"><Relationship Type="http://schemas.openxmlformats.org/officeDocument/2006/relationships/slide" Target="/ppt/slides/slide7.xml" Id="Rda9fd47170e04650" /><Relationship Type="http://schemas.openxmlformats.org/officeDocument/2006/relationships/notesMaster" Target="/ppt/notesMasters/notesMaster1.xml" Id="Rfcf315c5bcbe4408" /></Relationships>
</file>

<file path=ppt/notesSlides/_rels/notesSlide8.xml.rels>&#65279;<?xml version="1.0" encoding="utf-8"?><Relationships xmlns="http://schemas.openxmlformats.org/package/2006/relationships"><Relationship Type="http://schemas.openxmlformats.org/officeDocument/2006/relationships/slide" Target="/ppt/slides/slide8.xml" Id="R65f3bf898e1e47d2" /><Relationship Type="http://schemas.openxmlformats.org/officeDocument/2006/relationships/notesMaster" Target="/ppt/notesMasters/notesMaster1.xml" Id="R52c8ea5677dc43c2" /></Relationships>
</file>

<file path=ppt/notesSlides/_rels/notesSlide9.xml.rels>&#65279;<?xml version="1.0" encoding="utf-8"?><Relationships xmlns="http://schemas.openxmlformats.org/package/2006/relationships"><Relationship Type="http://schemas.openxmlformats.org/officeDocument/2006/relationships/slide" Target="/ppt/slides/slide9.xml" Id="R22b34447f1e343d1" /><Relationship Type="http://schemas.openxmlformats.org/officeDocument/2006/relationships/notesMaster" Target="/ppt/notesMasters/notesMaster1.xml" Id="R91f4b2b7069c4b5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002aaac05e44313" /><Relationship Type="http://schemas.openxmlformats.org/officeDocument/2006/relationships/notesMaster" Target="/ppt/notesMasters/notesMaster1.xml" Id="Ra7eb7022729b439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CSD380 Dev Ops. Module 1.2. Prepared for a classroom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Kim, Humble, Debois, and Willis (2016), The DevOps Handbook, p. 8. https://images.itrevolution.com/documents/DevOps_Handbook_Intro_Part1_Part2.pdf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https://images.itrevolution.com/documents/DevOps_Handbook_Intro_Part1_Part2.pdf, p. 9. Keep both measures within the same start and end boundaries. The illustrative example on the next slide assumes sequential steps without overlapping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invented teaching data, not a measured project or textbook figure. Same sequential workflow and scope in both cases. Initial: 2 hours processing + 18 hours waiting = 20 hours lead time. After reducing queues: 2 + 2 = 4 hours. Processing share rises from 10% to 50%. The example isolates waiting and does not predict actual improvement. Source for the timing distinction: https://images.itrevolution.com/documents/DevOps_Handbook_Intro_Part1_Part2.pdf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https://images.itrevolution.com/documents/DevOps_Handbook_Intro_Part1_Part2.pdf, p. 10; https://dora.dev/capabilities/working-in-small-batches/. DORA explains that traditional handoffs often bundle months of work and delay feedback for weeks or months.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https://images.itrevolution.com/documents/DevOps_Handbook_Intro_Part1_Part2.pdf, pp. 10–11; https://dora.dev/capabilities/continuous-delivery/; https://dora.dev/capabilities/working-in-small-batches/. Minutes describe the deployment interval for a ready change, not the entire time needed to design and build a new product. Continuous delivery keeps changes releasable on demand. Continuous deployment automatically releases eligible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https://dora.dev/capabilities/continuous-delivery/; https://dora.dev/capabilities/working-in-small-batches/. Continuous integration checks each change quickly. Reliable automated testing and deployment reduce manual work. Teams also need collaboration and process improvement. Tool installation alone does not create continuous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https://dora.dev/guides/dora-metrics/. Track throughput and instability together. This slide highlights selected measures, not the complete DORA metric set. Start with one application's baseline, identify its most significant constraint, make an improvement, and reassess. Use trends to learn rather than rank unrelated teams.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 use APA-style author–date citations. The first-edition publisher excerpt matches the assignment’s page 9–10 headings. URLs also appear in the notes for each relevant slide. DORA pages accessed October 24,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assistance acknowledgment: OpenAI Codex assisted with research, drafting, the illustrative teaching example, slide formatting, and revisions. The user supplied the assignment requirements and requested revisions. Product reference: https://openai.com/codex/. Session date: October 24,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466b4993d754c9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2b0bbe3f6084e12" /><Relationship Type="http://schemas.openxmlformats.org/officeDocument/2006/relationships/slideLayout" Target="/ppt/slideLayouts/slideLayout1.xml" Id="R78b01d8273b4481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8b01d8273b4481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7176d3feec947a6" /><Relationship Type="http://schemas.openxmlformats.org/officeDocument/2006/relationships/notesSlide" Target="/ppt/notesSlides/notesSlide1.xml" Id="R89397b61f95b4e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f6ea6c8445043bf" /><Relationship Type="http://schemas.openxmlformats.org/officeDocument/2006/relationships/notesSlide" Target="/ppt/notesSlides/notesSlide2.xml" Id="R13d340751b3f4d1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ba0ec83e16941ac" /><Relationship Type="http://schemas.openxmlformats.org/officeDocument/2006/relationships/notesSlide" Target="/ppt/notesSlides/notesSlide3.xml" Id="R9bc7304eb8f440b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df318c643fe4aee" /><Relationship Type="http://schemas.openxmlformats.org/officeDocument/2006/relationships/chart" Target="/ppt/slides/charts/chart1.xml" Id="Rc370c0141ebb45b5" /><Relationship Type="http://schemas.openxmlformats.org/officeDocument/2006/relationships/notesSlide" Target="/ppt/notesSlides/notesSlide4.xml" Id="Rbf25fdca5f284fc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777e87c83414db9" /><Relationship Type="http://schemas.openxmlformats.org/officeDocument/2006/relationships/notesSlide" Target="/ppt/notesSlides/notesSlide5.xml" Id="Rea9a2f4ac4c54c6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3d157fc20a84243" /><Relationship Type="http://schemas.openxmlformats.org/officeDocument/2006/relationships/notesSlide" Target="/ppt/notesSlides/notesSlide6.xml" Id="Rd697f4089d0d488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a24a8c31881472d" /><Relationship Type="http://schemas.openxmlformats.org/officeDocument/2006/relationships/notesSlide" Target="/ppt/notesSlides/notesSlide7.xml" Id="Ra4f935d3c49747b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35c8a4262c446d4" /><Relationship Type="http://schemas.openxmlformats.org/officeDocument/2006/relationships/notesSlide" Target="/ppt/notesSlides/notesSlide8.xml" Id="Ra7efc80cc3cc457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cf266bf17f04159" /><Relationship Type="http://schemas.openxmlformats.org/officeDocument/2006/relationships/notesSlide" Target="/ppt/notesSlides/notesSlide9.xml" Id="R7ac6c05f01814b7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9c6f38ad6c6407c" /><Relationship Type="http://schemas.openxmlformats.org/officeDocument/2006/relationships/notesSlide" Target="/ppt/notesSlides/notesSlide10.xml" Id="R9d3f765a6c6343a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Processing (hours)</c:v>
          </c:tx>
          <c:spPr>
            <a:solidFill xmlns:a="http://schemas.openxmlformats.org/drawingml/2006/main">
              <a:srgbClr val="087F8C"/>
            </a:solidFill>
          </c:spPr>
          <c:cat>
            <c:strRef>
              <c:f>'Chart Data'!$A$2:$A$3</c:f>
              <c:strCache>
                <c:ptCount val="2"/>
                <c:pt idx="0">
                  <c:v>Long queues</c:v>
                </c:pt>
                <c:pt idx="1">
                  <c:v>Shorter queues</c:v>
                </c:pt>
              </c:strCache>
            </c:strRef>
          </c:cat>
          <c:val>
            <c:numRef>
              <c:f>'Chart Data'!$B$2:$B$3</c:f>
              <c:numCache>
                <c:formatCode>General</c:formatCode>
                <c:ptCount val="2"/>
                <c:pt idx="0">
                  <c:v>2</c:v>
                </c:pt>
                <c:pt idx="1">
                  <c:v>2</c:v>
                </c:pt>
              </c:numCache>
            </c:numRef>
          </c:val>
        </c:ser>
        <c:ser>
          <c:idx val="1"/>
          <c:order val="1"/>
          <c:tx>
            <c:v>Waiting (hours)</c:v>
          </c:tx>
          <c:spPr>
            <a:solidFill xmlns:a="http://schemas.openxmlformats.org/drawingml/2006/main">
              <a:srgbClr val="D7A18D"/>
            </a:solidFill>
          </c:spPr>
          <c:cat>
            <c:strRef>
              <c:f>'Chart Data'!$C$2:$C$3</c:f>
              <c:strCache>
                <c:ptCount val="2"/>
                <c:pt idx="0">
                  <c:v>Long queues</c:v>
                </c:pt>
                <c:pt idx="1">
                  <c:v>Shorter queues</c:v>
                </c:pt>
              </c:strCache>
            </c:strRef>
          </c:cat>
          <c:val>
            <c:numRef>
              <c:f>'Chart Data'!$D$2:$D$3</c:f>
              <c:numCache>
                <c:formatCode>General</c:formatCode>
                <c:ptCount val="2"/>
                <c:pt idx="0">
                  <c:v>18</c:v>
                </c:pt>
                <c:pt idx="1">
                  <c:v>2</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7324D"/>
                  </a:solidFill>
                  <a:latin typeface="Helvetica Neue"/>
                  <a:ea typeface="Helvetica Neue"/>
                  <a:cs typeface="Helvetica Neue"/>
                </a:defRPr>
              </a:pPr>
            </a:p>
          </c:txPr>
          <c:dLblPos val="ctr"/>
          <c:showLegendKey val="0"/>
          <c:showVal val="1"/>
          <c:showCatName val="0"/>
          <c:showSerName val="0"/>
          <c:showPercent val="0"/>
          <c:showBubbleSize val="0"/>
          <c:showLeaderLines val="0"/>
        </c:dLbls>
        <c:gapWidth val="80"/>
        <c:overlap val="100"/>
        <c:axId val="48650112"/>
        <c:axId val="48672768"/>
      </c:barChart>
      <c:catAx>
        <c:axId val="48650112"/>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Elapsed hours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7324D"/>
                </a:solidFill>
                <a:latin typeface="Helvetica Neue"/>
                <a:ea typeface="Helvetica Neue"/>
                <a:cs typeface="Helvetica Neue"/>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324D"/>
                </a:solidFill>
                <a:latin typeface="Helvetica Neue"/>
                <a:ea typeface="Helvetica Neue"/>
                <a:cs typeface="Helvetica Neue"/>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7324D"/>
              </a:solidFill>
              <a:latin typeface="Helvetica Neue"/>
              <a:ea typeface="Helvetica Neue"/>
              <a:cs typeface="Helvetica Neue"/>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324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0ED2018-56AE-4B1D-ACB5-EDE026305A55}"/>
              </a:ext>
            </a:extLst>
          </p:cNvPr>
          <p:cNvSpPr>
            <a:spLocks xmlns:a="http://schemas.openxmlformats.org/drawingml/2006/main" noGrp="1"/>
          </p:cNvSpPr>
          <p:nvPr/>
        </p:nvSpPr>
        <p:spPr>
          <a:xfrm xmlns:a="http://schemas.openxmlformats.org/drawingml/2006/main">
            <a:off x="666750" y="51435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The Technology</a:t>
            </a:r>
          </a:p>
          <a:p xmlns:a="http://schemas.openxmlformats.org/drawingml/2006/main">
            <a:pPr>
              <a:buNone/>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Value Stream</a:t>
            </a:r>
          </a:p>
        </p:txBody>
      </p:sp>
      <p:sp>
        <p:nvSpPr>
          <p:cNvPr id="2" name="">
            <a:extLst xmlns:a="http://schemas.openxmlformats.org/drawingml/2006/main">
              <a:ext uri="{FF2B5EF4-FFF2-40B4-BE49-F238E27FC236}">
                <a16:creationId xmlns:a16="http://schemas.microsoft.com/office/drawing/2014/main" id="{6374A237-3379-444F-BD50-94322FD1E8B2}"/>
              </a:ext>
            </a:extLst>
          </p:cNvPr>
          <p:cNvSpPr>
            <a:spLocks xmlns:a="http://schemas.openxmlformats.org/drawingml/2006/main" noGrp="1"/>
          </p:cNvSpPr>
          <p:nvPr/>
        </p:nvSpPr>
        <p:spPr>
          <a:xfrm xmlns:a="http://schemas.openxmlformats.org/drawingml/2006/main">
            <a:off x="11239500" y="62293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C9D5E0"/>
                </a:solidFill>
                <a:latin typeface="Helvetica Neue"/>
                <a:ea typeface="Helvetica Neue"/>
                <a:cs typeface="Helvetica Neue"/>
              </a:defRPr>
            </a:pPr>
            <a:r>
              <a:rPr sz="1200" b="0">
                <a:solidFill>
                  <a:srgbClr val="C9D5E0"/>
                </a:solidFill>
                <a:latin typeface="Helvetica Neue"/>
                <a:ea typeface="Helvetica Neue"/>
                <a:cs typeface="Helvetica Neue"/>
              </a:rPr>
              <a:t>1</a:t>
            </a:r>
          </a:p>
        </p:txBody>
      </p:sp>
      <p:sp>
        <p:nvSpPr>
          <p:cNvPr id="3" name="">
            <a:extLst xmlns:a="http://schemas.openxmlformats.org/drawingml/2006/main">
              <a:ext uri="{FF2B5EF4-FFF2-40B4-BE49-F238E27FC236}">
                <a16:creationId xmlns:a16="http://schemas.microsoft.com/office/drawing/2014/main" id="{8760235C-341A-416D-80E6-EA5CCB8FB259}"/>
              </a:ext>
            </a:extLst>
          </p:cNvPr>
          <p:cNvSpPr>
            <a:spLocks xmlns:a="http://schemas.openxmlformats.org/drawingml/2006/main" noGrp="1"/>
          </p:cNvSpPr>
          <p:nvPr/>
        </p:nvSpPr>
        <p:spPr>
          <a:xfrm xmlns:a="http://schemas.openxmlformats.org/drawingml/2006/main">
            <a:off x="704850" y="321945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7EDBD8"/>
                </a:solidFill>
                <a:latin typeface="Helvetica Neue"/>
                <a:ea typeface="Helvetica Neue"/>
                <a:cs typeface="Helvetica Neue"/>
              </a:defRPr>
            </a:pPr>
            <a:r>
              <a:rPr sz="2100" b="0">
                <a:solidFill>
                  <a:srgbClr val="7EDBD8"/>
                </a:solidFill>
                <a:latin typeface="Helvetica Neue"/>
                <a:ea typeface="Helvetica Neue"/>
                <a:cs typeface="Helvetica Neue"/>
              </a:rPr>
              <a:t>Module 1.2</a:t>
            </a:r>
          </a:p>
        </p:txBody>
      </p:sp>
      <p:sp>
        <p:nvSpPr>
          <p:cNvPr id="4" name="">
            <a:extLst xmlns:a="http://schemas.openxmlformats.org/drawingml/2006/main">
              <a:ext uri="{FF2B5EF4-FFF2-40B4-BE49-F238E27FC236}">
                <a16:creationId xmlns:a16="http://schemas.microsoft.com/office/drawing/2014/main" id="{42415B57-5FE1-4723-B552-2EDE37D15334}"/>
              </a:ext>
            </a:extLst>
          </p:cNvPr>
          <p:cNvSpPr>
            <a:spLocks xmlns:a="http://schemas.openxmlformats.org/drawingml/2006/main" noGrp="1"/>
          </p:cNvSpPr>
          <p:nvPr/>
        </p:nvSpPr>
        <p:spPr>
          <a:xfrm xmlns:a="http://schemas.openxmlformats.org/drawingml/2006/main">
            <a:off x="704850" y="409575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Sam Dirr</a:t>
            </a:r>
          </a:p>
        </p:txBody>
      </p:sp>
      <p:sp>
        <p:nvSpPr>
          <p:cNvPr id="5" name="">
            <a:extLst xmlns:a="http://schemas.openxmlformats.org/drawingml/2006/main">
              <a:ext uri="{FF2B5EF4-FFF2-40B4-BE49-F238E27FC236}">
                <a16:creationId xmlns:a16="http://schemas.microsoft.com/office/drawing/2014/main" id="{E292D3F8-60CF-4CE0-A342-361FF5099D2C}"/>
              </a:ext>
            </a:extLst>
          </p:cNvPr>
          <p:cNvSpPr>
            <a:spLocks xmlns:a="http://schemas.openxmlformats.org/drawingml/2006/main" noGrp="1"/>
          </p:cNvSpPr>
          <p:nvPr/>
        </p:nvSpPr>
        <p:spPr>
          <a:xfrm xmlns:a="http://schemas.openxmlformats.org/drawingml/2006/main">
            <a:off x="704850" y="4629150"/>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C9D5E0"/>
                </a:solidFill>
                <a:latin typeface="Helvetica Neue"/>
                <a:ea typeface="Helvetica Neue"/>
                <a:cs typeface="Helvetica Neue"/>
              </a:defRPr>
            </a:pPr>
            <a:r>
              <a:rPr sz="1800" b="0">
                <a:solidFill>
                  <a:srgbClr val="C9D5E0"/>
                </a:solidFill>
                <a:latin typeface="Helvetica Neue"/>
                <a:ea typeface="Helvetica Neue"/>
                <a:cs typeface="Helvetica Neue"/>
              </a:rPr>
              <a:t>CSD380 Dev Ops</a:t>
            </a:r>
          </a:p>
        </p:txBody>
      </p:sp>
    </p:spTree>
    <p:extLst>
      <p:ext uri="{BB962C8B-B14F-4D97-AF65-F5344CB8AC3E}">
        <p14:creationId xmlns:p14="http://schemas.microsoft.com/office/powerpoint/2010/main" val="871335423"/>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87CB133-957E-4BA8-80D5-CB7C8EDEF6E0}"/>
              </a:ext>
            </a:extLst>
          </p:cNvPr>
          <p:cNvSpPr>
            <a:spLocks xmlns:a="http://schemas.openxmlformats.org/drawingml/2006/main" noGrp="1"/>
          </p:cNvSpPr>
          <p:nvPr/>
        </p:nvSpPr>
        <p:spPr>
          <a:xfrm xmlns:a="http://schemas.openxmlformats.org/drawingml/2006/main">
            <a:off x="666750" y="51435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7324D"/>
                </a:solidFill>
                <a:latin typeface="Helvetica Neue"/>
                <a:ea typeface="Helvetica Neue"/>
                <a:cs typeface="Helvetica Neue"/>
              </a:defRPr>
            </a:pPr>
            <a:r>
              <a:rPr sz="3300" b="1">
                <a:solidFill>
                  <a:srgbClr val="17324D"/>
                </a:solidFill>
                <a:latin typeface="Helvetica Neue"/>
                <a:ea typeface="Helvetica Neue"/>
                <a:cs typeface="Helvetica Neue"/>
              </a:rPr>
              <a:t>The technology value stream</a:t>
            </a:r>
          </a:p>
        </p:txBody>
      </p:sp>
      <p:sp>
        <p:nvSpPr>
          <p:cNvPr id="2" name="">
            <a:extLst xmlns:a="http://schemas.openxmlformats.org/drawingml/2006/main">
              <a:ext uri="{FF2B5EF4-FFF2-40B4-BE49-F238E27FC236}">
                <a16:creationId xmlns:a16="http://schemas.microsoft.com/office/drawing/2014/main" id="{0F758FD4-AAF8-4DDD-AFE1-65948313572F}"/>
              </a:ext>
            </a:extLst>
          </p:cNvPr>
          <p:cNvSpPr>
            <a:spLocks xmlns:a="http://schemas.openxmlformats.org/drawingml/2006/main" noGrp="1"/>
          </p:cNvSpPr>
          <p:nvPr/>
        </p:nvSpPr>
        <p:spPr>
          <a:xfrm xmlns:a="http://schemas.openxmlformats.org/drawingml/2006/main">
            <a:off x="666750" y="6229350"/>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579"/>
                </a:solidFill>
                <a:latin typeface="Helvetica Neue"/>
                <a:ea typeface="Helvetica Neue"/>
                <a:cs typeface="Helvetica Neue"/>
              </a:defRPr>
            </a:pPr>
            <a:r>
              <a:rPr sz="1200" b="0">
                <a:solidFill>
                  <a:srgbClr val="526579"/>
                </a:solidFill>
                <a:latin typeface="Helvetica Neue"/>
                <a:ea typeface="Helvetica Neue"/>
                <a:cs typeface="Helvetica Neue"/>
              </a:rPr>
              <a:t>Kim et al. (2016), p. 8</a:t>
            </a:r>
          </a:p>
        </p:txBody>
      </p:sp>
      <p:sp>
        <p:nvSpPr>
          <p:cNvPr id="3" name="">
            <a:extLst xmlns:a="http://schemas.openxmlformats.org/drawingml/2006/main">
              <a:ext uri="{FF2B5EF4-FFF2-40B4-BE49-F238E27FC236}">
                <a16:creationId xmlns:a16="http://schemas.microsoft.com/office/drawing/2014/main" id="{68A1635B-CC18-466E-9ABF-9C290E8B9EDC}"/>
              </a:ext>
            </a:extLst>
          </p:cNvPr>
          <p:cNvSpPr>
            <a:spLocks xmlns:a="http://schemas.openxmlformats.org/drawingml/2006/main" noGrp="1"/>
          </p:cNvSpPr>
          <p:nvPr/>
        </p:nvSpPr>
        <p:spPr>
          <a:xfrm xmlns:a="http://schemas.openxmlformats.org/drawingml/2006/main">
            <a:off x="11239500" y="62293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579"/>
                </a:solidFill>
                <a:latin typeface="Helvetica Neue"/>
                <a:ea typeface="Helvetica Neue"/>
                <a:cs typeface="Helvetica Neue"/>
              </a:defRPr>
            </a:pPr>
            <a:r>
              <a:rPr sz="1200" b="0">
                <a:solidFill>
                  <a:srgbClr val="526579"/>
                </a:solidFill>
                <a:latin typeface="Helvetica Neue"/>
                <a:ea typeface="Helvetica Neue"/>
                <a:cs typeface="Helvetica Neue"/>
              </a:rPr>
              <a:t>2</a:t>
            </a:r>
          </a:p>
        </p:txBody>
      </p:sp>
      <p:sp>
        <p:nvSpPr>
          <p:cNvPr id="4" name="">
            <a:extLst xmlns:a="http://schemas.openxmlformats.org/drawingml/2006/main">
              <a:ext uri="{FF2B5EF4-FFF2-40B4-BE49-F238E27FC236}">
                <a16:creationId xmlns:a16="http://schemas.microsoft.com/office/drawing/2014/main" id="{A91DE5B0-49B0-43CB-96F4-67BFF33CC47E}"/>
              </a:ext>
            </a:extLst>
          </p:cNvPr>
          <p:cNvSpPr>
            <a:spLocks xmlns:a="http://schemas.openxmlformats.org/drawingml/2006/main" noGrp="1"/>
          </p:cNvSpPr>
          <p:nvPr/>
        </p:nvSpPr>
        <p:spPr>
          <a:xfrm xmlns:a="http://schemas.openxmlformats.org/drawingml/2006/main">
            <a:off x="704850" y="18097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87F8C"/>
                </a:solidFill>
                <a:latin typeface="Helvetica Neue"/>
                <a:ea typeface="Helvetica Neue"/>
                <a:cs typeface="Helvetica Neue"/>
              </a:defRPr>
            </a:pPr>
            <a:r>
              <a:rPr sz="2700" b="1">
                <a:solidFill>
                  <a:srgbClr val="087F8C"/>
                </a:solidFill>
                <a:latin typeface="Helvetica Neue"/>
                <a:ea typeface="Helvetica Neue"/>
                <a:cs typeface="Helvetica Neue"/>
              </a:rPr>
              <a:t>The work that turns a business idea into a service customers can use.</a:t>
            </a:r>
          </a:p>
        </p:txBody>
      </p:sp>
      <p:sp>
        <p:nvSpPr>
          <p:cNvPr id="5" name="">
            <a:extLst xmlns:a="http://schemas.openxmlformats.org/drawingml/2006/main">
              <a:ext uri="{FF2B5EF4-FFF2-40B4-BE49-F238E27FC236}">
                <a16:creationId xmlns:a16="http://schemas.microsoft.com/office/drawing/2014/main" id="{1BD183B7-5C46-41D8-B6F9-5786686EE95E}"/>
              </a:ext>
            </a:extLst>
          </p:cNvPr>
          <p:cNvSpPr>
            <a:spLocks xmlns:a="http://schemas.openxmlformats.org/drawingml/2006/main" noGrp="1"/>
          </p:cNvSpPr>
          <p:nvPr/>
        </p:nvSpPr>
        <p:spPr>
          <a:xfrm xmlns:a="http://schemas.openxmlformats.org/drawingml/2006/main">
            <a:off x="685800" y="3238500"/>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87F8C"/>
                </a:solidFill>
                <a:latin typeface="Helvetica Neue"/>
                <a:ea typeface="Helvetica Neue"/>
                <a:cs typeface="Helvetica Neue"/>
              </a:defRPr>
            </a:pPr>
            <a:r>
              <a:rPr sz="2700" b="1">
                <a:solidFill>
                  <a:srgbClr val="087F8C"/>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9E228FED-2266-46FD-B572-72788CA9790A}"/>
              </a:ext>
            </a:extLst>
          </p:cNvPr>
          <p:cNvSpPr>
            <a:spLocks xmlns:a="http://schemas.openxmlformats.org/drawingml/2006/main" noGrp="1"/>
          </p:cNvSpPr>
          <p:nvPr/>
        </p:nvSpPr>
        <p:spPr>
          <a:xfrm xmlns:a="http://schemas.openxmlformats.org/drawingml/2006/main">
            <a:off x="1524000" y="3238500"/>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24D"/>
                </a:solidFill>
                <a:latin typeface="Helvetica Neue"/>
                <a:ea typeface="Helvetica Neue"/>
                <a:cs typeface="Helvetica Neue"/>
              </a:defRPr>
            </a:pPr>
            <a:r>
              <a:rPr sz="2250" b="1">
                <a:solidFill>
                  <a:srgbClr val="17324D"/>
                </a:solidFill>
                <a:latin typeface="Helvetica Neue"/>
                <a:ea typeface="Helvetica Neue"/>
                <a:cs typeface="Helvetica Neue"/>
              </a:rPr>
              <a:t>Full value stream</a:t>
            </a:r>
          </a:p>
        </p:txBody>
      </p:sp>
      <p:sp>
        <p:nvSpPr>
          <p:cNvPr id="7" name="">
            <a:extLst xmlns:a="http://schemas.openxmlformats.org/drawingml/2006/main">
              <a:ext uri="{FF2B5EF4-FFF2-40B4-BE49-F238E27FC236}">
                <a16:creationId xmlns:a16="http://schemas.microsoft.com/office/drawing/2014/main" id="{CA58FE00-90FF-45F2-821C-085D9190DE10}"/>
              </a:ext>
            </a:extLst>
          </p:cNvPr>
          <p:cNvSpPr>
            <a:spLocks xmlns:a="http://schemas.openxmlformats.org/drawingml/2006/main" noGrp="1"/>
          </p:cNvSpPr>
          <p:nvPr/>
        </p:nvSpPr>
        <p:spPr>
          <a:xfrm xmlns:a="http://schemas.openxmlformats.org/drawingml/2006/main">
            <a:off x="1524000" y="3695700"/>
            <a:ext cx="9715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7324D"/>
                </a:solidFill>
                <a:latin typeface="Helvetica Neue"/>
                <a:ea typeface="Helvetica Neue"/>
                <a:cs typeface="Helvetica Neue"/>
              </a:defRPr>
            </a:pPr>
            <a:r>
              <a:rPr sz="1950" b="0">
                <a:solidFill>
                  <a:srgbClr val="17324D"/>
                </a:solidFill>
                <a:latin typeface="Helvetica Neue"/>
                <a:ea typeface="Helvetica Neue"/>
                <a:cs typeface="Helvetica Neue"/>
              </a:rPr>
              <a:t>Accepted idea, development, testing, production, and customer feedback.</a:t>
            </a:r>
          </a:p>
        </p:txBody>
      </p:sp>
      <p:sp>
        <p:nvSpPr>
          <p:cNvPr id="8" name="">
            <a:extLst xmlns:a="http://schemas.openxmlformats.org/drawingml/2006/main">
              <a:ext uri="{FF2B5EF4-FFF2-40B4-BE49-F238E27FC236}">
                <a16:creationId xmlns:a16="http://schemas.microsoft.com/office/drawing/2014/main" id="{EF87090B-A30F-4A41-B433-9A3E39215FBF}"/>
              </a:ext>
            </a:extLst>
          </p:cNvPr>
          <p:cNvSpPr>
            <a:spLocks xmlns:a="http://schemas.openxmlformats.org/drawingml/2006/main" noGrp="1"/>
          </p:cNvSpPr>
          <p:nvPr/>
        </p:nvSpPr>
        <p:spPr>
          <a:xfrm xmlns:a="http://schemas.openxmlformats.org/drawingml/2006/main">
            <a:off x="685800" y="4572000"/>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87F8C"/>
                </a:solidFill>
                <a:latin typeface="Helvetica Neue"/>
                <a:ea typeface="Helvetica Neue"/>
                <a:cs typeface="Helvetica Neue"/>
              </a:defRPr>
            </a:pPr>
            <a:r>
              <a:rPr sz="2700" b="1">
                <a:solidFill>
                  <a:srgbClr val="087F8C"/>
                </a:solidFill>
                <a:latin typeface="Helvetica Neue"/>
                <a:ea typeface="Helvetica Neue"/>
                <a:cs typeface="Helvetica Neue"/>
              </a:rPr>
              <a:t>02</a:t>
            </a:r>
          </a:p>
        </p:txBody>
      </p:sp>
      <p:sp>
        <p:nvSpPr>
          <p:cNvPr id="9" name="">
            <a:extLst xmlns:a="http://schemas.openxmlformats.org/drawingml/2006/main">
              <a:ext uri="{FF2B5EF4-FFF2-40B4-BE49-F238E27FC236}">
                <a16:creationId xmlns:a16="http://schemas.microsoft.com/office/drawing/2014/main" id="{BBB1E783-D3AA-4FB3-9422-3F7452028C10}"/>
              </a:ext>
            </a:extLst>
          </p:cNvPr>
          <p:cNvSpPr>
            <a:spLocks xmlns:a="http://schemas.openxmlformats.org/drawingml/2006/main" noGrp="1"/>
          </p:cNvSpPr>
          <p:nvPr/>
        </p:nvSpPr>
        <p:spPr>
          <a:xfrm xmlns:a="http://schemas.openxmlformats.org/drawingml/2006/main">
            <a:off x="1524000" y="4572000"/>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24D"/>
                </a:solidFill>
                <a:latin typeface="Helvetica Neue"/>
                <a:ea typeface="Helvetica Neue"/>
                <a:cs typeface="Helvetica Neue"/>
              </a:defRPr>
            </a:pPr>
            <a:r>
              <a:rPr sz="2250" b="1">
                <a:solidFill>
                  <a:srgbClr val="17324D"/>
                </a:solidFill>
                <a:latin typeface="Helvetica Neue"/>
                <a:ea typeface="Helvetica Neue"/>
                <a:cs typeface="Helvetica Neue"/>
              </a:rPr>
              <a:t>Deployment lead time</a:t>
            </a:r>
          </a:p>
        </p:txBody>
      </p:sp>
      <p:sp>
        <p:nvSpPr>
          <p:cNvPr id="10" name="">
            <a:extLst xmlns:a="http://schemas.openxmlformats.org/drawingml/2006/main">
              <a:ext uri="{FF2B5EF4-FFF2-40B4-BE49-F238E27FC236}">
                <a16:creationId xmlns:a16="http://schemas.microsoft.com/office/drawing/2014/main" id="{099C391A-CAAF-48FD-8955-2D2FDB03C71B}"/>
              </a:ext>
            </a:extLst>
          </p:cNvPr>
          <p:cNvSpPr>
            <a:spLocks xmlns:a="http://schemas.openxmlformats.org/drawingml/2006/main" noGrp="1"/>
          </p:cNvSpPr>
          <p:nvPr/>
        </p:nvSpPr>
        <p:spPr>
          <a:xfrm xmlns:a="http://schemas.openxmlformats.org/drawingml/2006/main">
            <a:off x="1524000" y="5029200"/>
            <a:ext cx="9715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7324D"/>
                </a:solidFill>
                <a:latin typeface="Helvetica Neue"/>
                <a:ea typeface="Helvetica Neue"/>
                <a:cs typeface="Helvetica Neue"/>
              </a:defRPr>
            </a:pPr>
            <a:r>
              <a:rPr sz="1950" b="0">
                <a:solidFill>
                  <a:srgbClr val="17324D"/>
                </a:solidFill>
                <a:latin typeface="Helvetica Neue"/>
                <a:ea typeface="Helvetica Neue"/>
                <a:cs typeface="Helvetica Neue"/>
              </a:rPr>
              <a:t>The narrower interval from a code commit to successful operation in production.</a:t>
            </a:r>
          </a:p>
        </p:txBody>
      </p:sp>
    </p:spTree>
    <p:extLst>
      <p:ext uri="{BB962C8B-B14F-4D97-AF65-F5344CB8AC3E}">
        <p14:creationId xmlns:p14="http://schemas.microsoft.com/office/powerpoint/2010/main" val="566145642"/>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91B6465-8E98-4660-85DE-1658C15FA02A}"/>
              </a:ext>
            </a:extLst>
          </p:cNvPr>
          <p:cNvSpPr>
            <a:spLocks xmlns:a="http://schemas.openxmlformats.org/drawingml/2006/main" noGrp="1"/>
          </p:cNvSpPr>
          <p:nvPr/>
        </p:nvSpPr>
        <p:spPr>
          <a:xfrm xmlns:a="http://schemas.openxmlformats.org/drawingml/2006/main">
            <a:off x="666750" y="51435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7324D"/>
                </a:solidFill>
                <a:latin typeface="Helvetica Neue"/>
                <a:ea typeface="Helvetica Neue"/>
                <a:cs typeface="Helvetica Neue"/>
              </a:defRPr>
            </a:pPr>
            <a:r>
              <a:rPr sz="3300" b="1">
                <a:solidFill>
                  <a:srgbClr val="17324D"/>
                </a:solidFill>
                <a:latin typeface="Helvetica Neue"/>
                <a:ea typeface="Helvetica Neue"/>
                <a:cs typeface="Helvetica Neue"/>
              </a:rPr>
              <a:t>Lead time vs. processing time</a:t>
            </a:r>
          </a:p>
        </p:txBody>
      </p:sp>
      <p:sp>
        <p:nvSpPr>
          <p:cNvPr id="2" name="">
            <a:extLst xmlns:a="http://schemas.openxmlformats.org/drawingml/2006/main">
              <a:ext uri="{FF2B5EF4-FFF2-40B4-BE49-F238E27FC236}">
                <a16:creationId xmlns:a16="http://schemas.microsoft.com/office/drawing/2014/main" id="{AFAC723A-D5F9-4756-A3F0-51DA861B9E3D}"/>
              </a:ext>
            </a:extLst>
          </p:cNvPr>
          <p:cNvSpPr>
            <a:spLocks xmlns:a="http://schemas.openxmlformats.org/drawingml/2006/main" noGrp="1"/>
          </p:cNvSpPr>
          <p:nvPr/>
        </p:nvSpPr>
        <p:spPr>
          <a:xfrm xmlns:a="http://schemas.openxmlformats.org/drawingml/2006/main">
            <a:off x="666750" y="6229350"/>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579"/>
                </a:solidFill>
                <a:latin typeface="Helvetica Neue"/>
                <a:ea typeface="Helvetica Neue"/>
                <a:cs typeface="Helvetica Neue"/>
              </a:defRPr>
            </a:pPr>
            <a:r>
              <a:rPr sz="1200" b="0">
                <a:solidFill>
                  <a:srgbClr val="526579"/>
                </a:solidFill>
                <a:latin typeface="Helvetica Neue"/>
                <a:ea typeface="Helvetica Neue"/>
                <a:cs typeface="Helvetica Neue"/>
              </a:rPr>
              <a:t>Kim et al. (2016), p. 9</a:t>
            </a:r>
          </a:p>
        </p:txBody>
      </p:sp>
      <p:sp>
        <p:nvSpPr>
          <p:cNvPr id="3" name="">
            <a:extLst xmlns:a="http://schemas.openxmlformats.org/drawingml/2006/main">
              <a:ext uri="{FF2B5EF4-FFF2-40B4-BE49-F238E27FC236}">
                <a16:creationId xmlns:a16="http://schemas.microsoft.com/office/drawing/2014/main" id="{CA17699C-4380-4C54-B733-8B1DFC480289}"/>
              </a:ext>
            </a:extLst>
          </p:cNvPr>
          <p:cNvSpPr>
            <a:spLocks xmlns:a="http://schemas.openxmlformats.org/drawingml/2006/main" noGrp="1"/>
          </p:cNvSpPr>
          <p:nvPr/>
        </p:nvSpPr>
        <p:spPr>
          <a:xfrm xmlns:a="http://schemas.openxmlformats.org/drawingml/2006/main">
            <a:off x="11239500" y="62293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579"/>
                </a:solidFill>
                <a:latin typeface="Helvetica Neue"/>
                <a:ea typeface="Helvetica Neue"/>
                <a:cs typeface="Helvetica Neue"/>
              </a:defRPr>
            </a:pPr>
            <a:r>
              <a:rPr sz="1200" b="0">
                <a:solidFill>
                  <a:srgbClr val="526579"/>
                </a:solidFill>
                <a:latin typeface="Helvetica Neue"/>
                <a:ea typeface="Helvetica Neue"/>
                <a:cs typeface="Helvetica Neue"/>
              </a:rPr>
              <a:t>3</a:t>
            </a:r>
          </a:p>
        </p:txBody>
      </p:sp>
      <p:sp>
        <p:nvSpPr>
          <p:cNvPr id="4" name="">
            <a:extLst xmlns:a="http://schemas.openxmlformats.org/drawingml/2006/main">
              <a:ext uri="{FF2B5EF4-FFF2-40B4-BE49-F238E27FC236}">
                <a16:creationId xmlns:a16="http://schemas.microsoft.com/office/drawing/2014/main" id="{BC8A0B15-1AB1-4898-9008-D5C03E776003}"/>
              </a:ext>
            </a:extLst>
          </p:cNvPr>
          <p:cNvSpPr>
            <a:spLocks xmlns:a="http://schemas.openxmlformats.org/drawingml/2006/main" noGrp="1"/>
          </p:cNvSpPr>
          <p:nvPr/>
        </p:nvSpPr>
        <p:spPr>
          <a:xfrm xmlns:a="http://schemas.openxmlformats.org/drawingml/2006/main">
            <a:off x="704850" y="18573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87F8C"/>
                </a:solidFill>
                <a:latin typeface="Helvetica Neue"/>
                <a:ea typeface="Helvetica Neue"/>
                <a:cs typeface="Helvetica Neue"/>
              </a:defRPr>
            </a:pPr>
            <a:r>
              <a:rPr sz="2550" b="1">
                <a:solidFill>
                  <a:srgbClr val="087F8C"/>
                </a:solidFill>
                <a:latin typeface="Helvetica Neue"/>
                <a:ea typeface="Helvetica Neue"/>
                <a:cs typeface="Helvetica Neue"/>
              </a:rPr>
              <a:t>Lead time</a:t>
            </a:r>
          </a:p>
        </p:txBody>
      </p:sp>
      <p:sp>
        <p:nvSpPr>
          <p:cNvPr id="5" name="">
            <a:extLst xmlns:a="http://schemas.openxmlformats.org/drawingml/2006/main">
              <a:ext uri="{FF2B5EF4-FFF2-40B4-BE49-F238E27FC236}">
                <a16:creationId xmlns:a16="http://schemas.microsoft.com/office/drawing/2014/main" id="{55DFCC91-323A-4120-86DC-71EF96B06C45}"/>
              </a:ext>
            </a:extLst>
          </p:cNvPr>
          <p:cNvSpPr>
            <a:spLocks xmlns:a="http://schemas.openxmlformats.org/drawingml/2006/main" noGrp="1"/>
          </p:cNvSpPr>
          <p:nvPr/>
        </p:nvSpPr>
        <p:spPr>
          <a:xfrm xmlns:a="http://schemas.openxmlformats.org/drawingml/2006/main">
            <a:off x="704850" y="2543175"/>
            <a:ext cx="4762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7324D"/>
                </a:solidFill>
                <a:latin typeface="Helvetica Neue"/>
                <a:ea typeface="Helvetica Neue"/>
                <a:cs typeface="Helvetica Neue"/>
              </a:defRPr>
            </a:pPr>
            <a:r>
              <a:rPr sz="2250" b="0">
                <a:solidFill>
                  <a:srgbClr val="17324D"/>
                </a:solidFill>
                <a:latin typeface="Helvetica Neue"/>
                <a:ea typeface="Helvetica Neue"/>
                <a:cs typeface="Helvetica Neue"/>
              </a:rPr>
              <a:t>Total elapsed time from request to fulfillment, including time waiting in queues.</a:t>
            </a:r>
          </a:p>
        </p:txBody>
      </p:sp>
      <p:sp>
        <p:nvSpPr>
          <p:cNvPr id="6" name="">
            <a:extLst xmlns:a="http://schemas.openxmlformats.org/drawingml/2006/main">
              <a:ext uri="{FF2B5EF4-FFF2-40B4-BE49-F238E27FC236}">
                <a16:creationId xmlns:a16="http://schemas.microsoft.com/office/drawing/2014/main" id="{60876E47-9B90-4EFA-A4EB-8EC9D55A0956}"/>
              </a:ext>
            </a:extLst>
          </p:cNvPr>
          <p:cNvSpPr>
            <a:spLocks xmlns:a="http://schemas.openxmlformats.org/drawingml/2006/main" noGrp="1"/>
          </p:cNvSpPr>
          <p:nvPr/>
        </p:nvSpPr>
        <p:spPr>
          <a:xfrm xmlns:a="http://schemas.openxmlformats.org/drawingml/2006/main">
            <a:off x="6610350" y="18573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87F8C"/>
                </a:solidFill>
                <a:latin typeface="Helvetica Neue"/>
                <a:ea typeface="Helvetica Neue"/>
                <a:cs typeface="Helvetica Neue"/>
              </a:defRPr>
            </a:pPr>
            <a:r>
              <a:rPr sz="2550" b="1">
                <a:solidFill>
                  <a:srgbClr val="087F8C"/>
                </a:solidFill>
                <a:latin typeface="Helvetica Neue"/>
                <a:ea typeface="Helvetica Neue"/>
                <a:cs typeface="Helvetica Neue"/>
              </a:rPr>
              <a:t>Processing time</a:t>
            </a:r>
          </a:p>
        </p:txBody>
      </p:sp>
      <p:sp>
        <p:nvSpPr>
          <p:cNvPr id="7" name="">
            <a:extLst xmlns:a="http://schemas.openxmlformats.org/drawingml/2006/main">
              <a:ext uri="{FF2B5EF4-FFF2-40B4-BE49-F238E27FC236}">
                <a16:creationId xmlns:a16="http://schemas.microsoft.com/office/drawing/2014/main" id="{CCF10C6E-8596-44B5-923D-E9593B11BADE}"/>
              </a:ext>
            </a:extLst>
          </p:cNvPr>
          <p:cNvSpPr>
            <a:spLocks xmlns:a="http://schemas.openxmlformats.org/drawingml/2006/main" noGrp="1"/>
          </p:cNvSpPr>
          <p:nvPr/>
        </p:nvSpPr>
        <p:spPr>
          <a:xfrm xmlns:a="http://schemas.openxmlformats.org/drawingml/2006/main">
            <a:off x="6610350" y="2543175"/>
            <a:ext cx="4762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7324D"/>
                </a:solidFill>
                <a:latin typeface="Helvetica Neue"/>
                <a:ea typeface="Helvetica Neue"/>
                <a:cs typeface="Helvetica Neue"/>
              </a:defRPr>
            </a:pPr>
            <a:r>
              <a:rPr sz="2250" b="0">
                <a:solidFill>
                  <a:srgbClr val="17324D"/>
                </a:solidFill>
                <a:latin typeface="Helvetica Neue"/>
                <a:ea typeface="Helvetica Neue"/>
                <a:cs typeface="Helvetica Neue"/>
              </a:rPr>
              <a:t>Time actively spent working on the request. It excludes waiting.</a:t>
            </a:r>
          </a:p>
        </p:txBody>
      </p:sp>
      <p:sp>
        <p:nvSpPr>
          <p:cNvPr id="8" name="">
            <a:extLst xmlns:a="http://schemas.openxmlformats.org/drawingml/2006/main">
              <a:ext uri="{FF2B5EF4-FFF2-40B4-BE49-F238E27FC236}">
                <a16:creationId xmlns:a16="http://schemas.microsoft.com/office/drawing/2014/main" id="{C125E51B-D369-4E9E-B2F2-C3C63025FA28}"/>
              </a:ext>
            </a:extLst>
          </p:cNvPr>
          <p:cNvSpPr>
            <a:spLocks xmlns:a="http://schemas.openxmlformats.org/drawingml/2006/main" noGrp="1"/>
          </p:cNvSpPr>
          <p:nvPr/>
        </p:nvSpPr>
        <p:spPr>
          <a:xfrm xmlns:a="http://schemas.openxmlformats.org/drawingml/2006/main">
            <a:off x="704850" y="49530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17324D"/>
                </a:solidFill>
                <a:latin typeface="Helvetica Neue"/>
                <a:ea typeface="Helvetica Neue"/>
                <a:cs typeface="Helvetica Neue"/>
              </a:defRPr>
            </a:pPr>
            <a:r>
              <a:rPr sz="2550" b="1">
                <a:solidFill>
                  <a:srgbClr val="17324D"/>
                </a:solidFill>
                <a:latin typeface="Helvetica Neue"/>
                <a:ea typeface="Helvetica Neue"/>
                <a:cs typeface="Helvetica Neue"/>
              </a:rPr>
              <a:t>Customers experience the full lead time.</a:t>
            </a:r>
          </a:p>
        </p:txBody>
      </p:sp>
    </p:spTree>
    <p:extLst>
      <p:ext uri="{BB962C8B-B14F-4D97-AF65-F5344CB8AC3E}">
        <p14:creationId xmlns:p14="http://schemas.microsoft.com/office/powerpoint/2010/main" val="157581878"/>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9993574-BC3C-4256-9331-2A356E72AF1A}"/>
              </a:ext>
            </a:extLst>
          </p:cNvPr>
          <p:cNvSpPr>
            <a:spLocks xmlns:a="http://schemas.openxmlformats.org/drawingml/2006/main" noGrp="1"/>
          </p:cNvSpPr>
          <p:nvPr/>
        </p:nvSpPr>
        <p:spPr>
          <a:xfrm xmlns:a="http://schemas.openxmlformats.org/drawingml/2006/main">
            <a:off x="666750" y="51435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7324D"/>
                </a:solidFill>
                <a:latin typeface="Helvetica Neue"/>
                <a:ea typeface="Helvetica Neue"/>
                <a:cs typeface="Helvetica Neue"/>
              </a:defRPr>
            </a:pPr>
            <a:r>
              <a:rPr sz="3300" b="1">
                <a:solidFill>
                  <a:srgbClr val="17324D"/>
                </a:solidFill>
                <a:latin typeface="Helvetica Neue"/>
                <a:ea typeface="Helvetica Neue"/>
                <a:cs typeface="Helvetica Neue"/>
              </a:rPr>
              <a:t>Graphic: where the time goes</a:t>
            </a:r>
          </a:p>
        </p:txBody>
      </p:sp>
      <p:sp>
        <p:nvSpPr>
          <p:cNvPr id="2" name="">
            <a:extLst xmlns:a="http://schemas.openxmlformats.org/drawingml/2006/main">
              <a:ext uri="{FF2B5EF4-FFF2-40B4-BE49-F238E27FC236}">
                <a16:creationId xmlns:a16="http://schemas.microsoft.com/office/drawing/2014/main" id="{ADADF095-E7FF-4F36-9E95-00681FD9AD93}"/>
              </a:ext>
            </a:extLst>
          </p:cNvPr>
          <p:cNvSpPr>
            <a:spLocks xmlns:a="http://schemas.openxmlformats.org/drawingml/2006/main" noGrp="1"/>
          </p:cNvSpPr>
          <p:nvPr/>
        </p:nvSpPr>
        <p:spPr>
          <a:xfrm xmlns:a="http://schemas.openxmlformats.org/drawingml/2006/main">
            <a:off x="666750" y="6229350"/>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579"/>
                </a:solidFill>
                <a:latin typeface="Helvetica Neue"/>
                <a:ea typeface="Helvetica Neue"/>
                <a:cs typeface="Helvetica Neue"/>
              </a:defRPr>
            </a:pPr>
            <a:r>
              <a:rPr sz="1200" b="0">
                <a:solidFill>
                  <a:srgbClr val="526579"/>
                </a:solidFill>
                <a:latin typeface="Helvetica Neue"/>
                <a:ea typeface="Helvetica Neue"/>
                <a:cs typeface="Helvetica Neue"/>
              </a:rPr>
              <a:t>Illustrative example created for this presentation. Concept: Kim et al. (2016), p. 9.</a:t>
            </a:r>
          </a:p>
        </p:txBody>
      </p:sp>
      <p:sp>
        <p:nvSpPr>
          <p:cNvPr id="3" name="">
            <a:extLst xmlns:a="http://schemas.openxmlformats.org/drawingml/2006/main">
              <a:ext uri="{FF2B5EF4-FFF2-40B4-BE49-F238E27FC236}">
                <a16:creationId xmlns:a16="http://schemas.microsoft.com/office/drawing/2014/main" id="{F5FF932B-03DD-491F-BAFB-6B229CBD9D14}"/>
              </a:ext>
            </a:extLst>
          </p:cNvPr>
          <p:cNvSpPr>
            <a:spLocks xmlns:a="http://schemas.openxmlformats.org/drawingml/2006/main" noGrp="1"/>
          </p:cNvSpPr>
          <p:nvPr/>
        </p:nvSpPr>
        <p:spPr>
          <a:xfrm xmlns:a="http://schemas.openxmlformats.org/drawingml/2006/main">
            <a:off x="11239500" y="62293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579"/>
                </a:solidFill>
                <a:latin typeface="Helvetica Neue"/>
                <a:ea typeface="Helvetica Neue"/>
                <a:cs typeface="Helvetica Neue"/>
              </a:defRPr>
            </a:pPr>
            <a:r>
              <a:rPr sz="1200" b="0">
                <a:solidFill>
                  <a:srgbClr val="526579"/>
                </a:solidFill>
                <a:latin typeface="Helvetica Neue"/>
                <a:ea typeface="Helvetica Neue"/>
                <a:cs typeface="Helvetica Neue"/>
              </a:rPr>
              <a:t>4</a:t>
            </a:r>
          </a:p>
        </p:txBody>
      </p:sp>
      <p:graphicFrame>
        <p:nvGraphicFramePr>
          <p:cNvPr id="12" name="Chart"/>
          <p:cNvGraphicFramePr/>
          <p:nvPr/>
        </p:nvGraphicFramePr>
        <p:xfrm>
          <a:off xmlns:a="http://schemas.openxmlformats.org/drawingml/2006/main" x="714375" y="1809750"/>
          <a:ext xmlns:a="http://schemas.openxmlformats.org/drawingml/2006/main" cx="10477500" cy="2952750"/>
        </p:xfrm>
        <a:graphic xmlns:a="http://schemas.openxmlformats.org/drawingml/2006/main">
          <a:graphicData uri="http://schemas.openxmlformats.org/drawingml/2006/chart">
            <c:chart xmlns:r="http://schemas.openxmlformats.org/officeDocument/2006/relationships" xmlns:c="http://schemas.openxmlformats.org/drawingml/2006/chart" r:id="Rc370c0141ebb45b5"/>
          </a:graphicData>
        </a:graphic>
      </p:graphicFrame>
      <p:sp>
        <p:nvSpPr>
          <p:cNvPr id="5" name="">
            <a:extLst xmlns:a="http://schemas.openxmlformats.org/drawingml/2006/main">
              <a:ext uri="{FF2B5EF4-FFF2-40B4-BE49-F238E27FC236}">
                <a16:creationId xmlns:a16="http://schemas.microsoft.com/office/drawing/2014/main" id="{F93E5012-76AE-442C-9E4F-64AC2F6194B2}"/>
              </a:ext>
            </a:extLst>
          </p:cNvPr>
          <p:cNvSpPr>
            <a:spLocks xmlns:a="http://schemas.openxmlformats.org/drawingml/2006/main" noGrp="1"/>
          </p:cNvSpPr>
          <p:nvPr/>
        </p:nvSpPr>
        <p:spPr>
          <a:xfrm xmlns:a="http://schemas.openxmlformats.org/drawingml/2006/main">
            <a:off x="704850" y="50006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87F8C"/>
                </a:solidFill>
                <a:latin typeface="Helvetica Neue"/>
                <a:ea typeface="Helvetica Neue"/>
                <a:cs typeface="Helvetica Neue"/>
              </a:defRPr>
            </a:pPr>
            <a:r>
              <a:rPr sz="2550" b="1">
                <a:solidFill>
                  <a:srgbClr val="087F8C"/>
                </a:solidFill>
                <a:latin typeface="Helvetica Neue"/>
                <a:ea typeface="Helvetica Neue"/>
                <a:cs typeface="Helvetica Neue"/>
              </a:rPr>
              <a:t>20 hours becomes 4 hours</a:t>
            </a:r>
          </a:p>
        </p:txBody>
      </p:sp>
      <p:sp>
        <p:nvSpPr>
          <p:cNvPr id="6" name="">
            <a:extLst xmlns:a="http://schemas.openxmlformats.org/drawingml/2006/main">
              <a:ext uri="{FF2B5EF4-FFF2-40B4-BE49-F238E27FC236}">
                <a16:creationId xmlns:a16="http://schemas.microsoft.com/office/drawing/2014/main" id="{6B09E7BC-E180-4CAF-A186-52342385BE41}"/>
              </a:ext>
            </a:extLst>
          </p:cNvPr>
          <p:cNvSpPr>
            <a:spLocks xmlns:a="http://schemas.openxmlformats.org/drawingml/2006/main" noGrp="1"/>
          </p:cNvSpPr>
          <p:nvPr/>
        </p:nvSpPr>
        <p:spPr>
          <a:xfrm xmlns:a="http://schemas.openxmlformats.org/drawingml/2006/main">
            <a:off x="704850" y="55626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7324D"/>
                </a:solidFill>
                <a:latin typeface="Helvetica Neue"/>
                <a:ea typeface="Helvetica Neue"/>
                <a:cs typeface="Helvetica Neue"/>
              </a:defRPr>
            </a:pPr>
            <a:r>
              <a:rPr sz="1875" b="0">
                <a:solidFill>
                  <a:srgbClr val="17324D"/>
                </a:solidFill>
                <a:latin typeface="Helvetica Neue"/>
                <a:ea typeface="Helvetica Neue"/>
                <a:cs typeface="Helvetica Neue"/>
              </a:rPr>
              <a:t>Active work stays at 2 hours. Less waiting improves delivery.</a:t>
            </a:r>
          </a:p>
        </p:txBody>
      </p:sp>
    </p:spTree>
    <p:extLst>
      <p:ext uri="{BB962C8B-B14F-4D97-AF65-F5344CB8AC3E}">
        <p14:creationId xmlns:p14="http://schemas.microsoft.com/office/powerpoint/2010/main" val="523389807"/>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65FA912-8A46-496D-86C9-F69C359B9513}"/>
              </a:ext>
            </a:extLst>
          </p:cNvPr>
          <p:cNvSpPr>
            <a:spLocks xmlns:a="http://schemas.openxmlformats.org/drawingml/2006/main" noGrp="1"/>
          </p:cNvSpPr>
          <p:nvPr/>
        </p:nvSpPr>
        <p:spPr>
          <a:xfrm xmlns:a="http://schemas.openxmlformats.org/drawingml/2006/main">
            <a:off x="666750" y="51435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7324D"/>
                </a:solidFill>
                <a:latin typeface="Helvetica Neue"/>
                <a:ea typeface="Helvetica Neue"/>
                <a:cs typeface="Helvetica Neue"/>
              </a:defRPr>
            </a:pPr>
            <a:r>
              <a:rPr sz="3300" b="1">
                <a:solidFill>
                  <a:srgbClr val="17324D"/>
                </a:solidFill>
                <a:latin typeface="Helvetica Neue"/>
                <a:ea typeface="Helvetica Neue"/>
                <a:cs typeface="Helvetica Neue"/>
              </a:rPr>
              <a:t>The common scenario: months</a:t>
            </a:r>
          </a:p>
        </p:txBody>
      </p:sp>
      <p:sp>
        <p:nvSpPr>
          <p:cNvPr id="2" name="">
            <a:extLst xmlns:a="http://schemas.openxmlformats.org/drawingml/2006/main">
              <a:ext uri="{FF2B5EF4-FFF2-40B4-BE49-F238E27FC236}">
                <a16:creationId xmlns:a16="http://schemas.microsoft.com/office/drawing/2014/main" id="{F6A89FB9-601C-48B7-9DE5-D4B5E1027B68}"/>
              </a:ext>
            </a:extLst>
          </p:cNvPr>
          <p:cNvSpPr>
            <a:spLocks xmlns:a="http://schemas.openxmlformats.org/drawingml/2006/main" noGrp="1"/>
          </p:cNvSpPr>
          <p:nvPr/>
        </p:nvSpPr>
        <p:spPr>
          <a:xfrm xmlns:a="http://schemas.openxmlformats.org/drawingml/2006/main">
            <a:off x="666750" y="6229350"/>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579"/>
                </a:solidFill>
                <a:latin typeface="Helvetica Neue"/>
                <a:ea typeface="Helvetica Neue"/>
                <a:cs typeface="Helvetica Neue"/>
              </a:defRPr>
            </a:pPr>
            <a:r>
              <a:rPr sz="1200" b="0">
                <a:solidFill>
                  <a:srgbClr val="526579"/>
                </a:solidFill>
                <a:latin typeface="Helvetica Neue"/>
                <a:ea typeface="Helvetica Neue"/>
                <a:cs typeface="Helvetica Neue"/>
              </a:rPr>
              <a:t>Kim et al. (2016), p. 10; DORA (n.d.), Working in small batches</a:t>
            </a:r>
          </a:p>
        </p:txBody>
      </p:sp>
      <p:sp>
        <p:nvSpPr>
          <p:cNvPr id="3" name="">
            <a:extLst xmlns:a="http://schemas.openxmlformats.org/drawingml/2006/main">
              <a:ext uri="{FF2B5EF4-FFF2-40B4-BE49-F238E27FC236}">
                <a16:creationId xmlns:a16="http://schemas.microsoft.com/office/drawing/2014/main" id="{B0BADF50-0E22-44B3-A045-92A4480EDF83}"/>
              </a:ext>
            </a:extLst>
          </p:cNvPr>
          <p:cNvSpPr>
            <a:spLocks xmlns:a="http://schemas.openxmlformats.org/drawingml/2006/main" noGrp="1"/>
          </p:cNvSpPr>
          <p:nvPr/>
        </p:nvSpPr>
        <p:spPr>
          <a:xfrm xmlns:a="http://schemas.openxmlformats.org/drawingml/2006/main">
            <a:off x="11239500" y="62293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579"/>
                </a:solidFill>
                <a:latin typeface="Helvetica Neue"/>
                <a:ea typeface="Helvetica Neue"/>
                <a:cs typeface="Helvetica Neue"/>
              </a:defRPr>
            </a:pPr>
            <a:r>
              <a:rPr sz="1200" b="0">
                <a:solidFill>
                  <a:srgbClr val="526579"/>
                </a:solidFill>
                <a:latin typeface="Helvetica Neue"/>
                <a:ea typeface="Helvetica Neue"/>
                <a:cs typeface="Helvetica Neue"/>
              </a:rPr>
              <a:t>5</a:t>
            </a:r>
          </a:p>
        </p:txBody>
      </p:sp>
      <p:sp>
        <p:nvSpPr>
          <p:cNvPr id="4" name="">
            <a:extLst xmlns:a="http://schemas.openxmlformats.org/drawingml/2006/main">
              <a:ext uri="{FF2B5EF4-FFF2-40B4-BE49-F238E27FC236}">
                <a16:creationId xmlns:a16="http://schemas.microsoft.com/office/drawing/2014/main" id="{F4ECB630-BE92-4EB8-9380-AC726C469688}"/>
              </a:ext>
            </a:extLst>
          </p:cNvPr>
          <p:cNvSpPr>
            <a:spLocks xmlns:a="http://schemas.openxmlformats.org/drawingml/2006/main" noGrp="1"/>
          </p:cNvSpPr>
          <p:nvPr/>
        </p:nvSpPr>
        <p:spPr>
          <a:xfrm xmlns:a="http://schemas.openxmlformats.org/drawingml/2006/main">
            <a:off x="685800" y="1714500"/>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87F8C"/>
                </a:solidFill>
                <a:latin typeface="Helvetica Neue"/>
                <a:ea typeface="Helvetica Neue"/>
                <a:cs typeface="Helvetica Neue"/>
              </a:defRPr>
            </a:pPr>
            <a:r>
              <a:rPr sz="2700" b="1">
                <a:solidFill>
                  <a:srgbClr val="087F8C"/>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EB0794CE-01F5-40FF-92EB-4C41A4B6B419}"/>
              </a:ext>
            </a:extLst>
          </p:cNvPr>
          <p:cNvSpPr>
            <a:spLocks xmlns:a="http://schemas.openxmlformats.org/drawingml/2006/main" noGrp="1"/>
          </p:cNvSpPr>
          <p:nvPr/>
        </p:nvSpPr>
        <p:spPr>
          <a:xfrm xmlns:a="http://schemas.openxmlformats.org/drawingml/2006/main">
            <a:off x="1524000" y="1714500"/>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24D"/>
                </a:solidFill>
                <a:latin typeface="Helvetica Neue"/>
                <a:ea typeface="Helvetica Neue"/>
                <a:cs typeface="Helvetica Neue"/>
              </a:defRPr>
            </a:pPr>
            <a:r>
              <a:rPr sz="2250" b="1">
                <a:solidFill>
                  <a:srgbClr val="17324D"/>
                </a:solidFill>
                <a:latin typeface="Helvetica Neue"/>
                <a:ea typeface="Helvetica Neue"/>
                <a:cs typeface="Helvetica Neue"/>
              </a:rPr>
              <a:t>Large releases and tightly coupled systems</a:t>
            </a:r>
          </a:p>
        </p:txBody>
      </p:sp>
      <p:sp>
        <p:nvSpPr>
          <p:cNvPr id="6" name="">
            <a:extLst xmlns:a="http://schemas.openxmlformats.org/drawingml/2006/main">
              <a:ext uri="{FF2B5EF4-FFF2-40B4-BE49-F238E27FC236}">
                <a16:creationId xmlns:a16="http://schemas.microsoft.com/office/drawing/2014/main" id="{5005E3AA-1ACC-4ACF-8ED5-76AAB645BEF4}"/>
              </a:ext>
            </a:extLst>
          </p:cNvPr>
          <p:cNvSpPr>
            <a:spLocks xmlns:a="http://schemas.openxmlformats.org/drawingml/2006/main" noGrp="1"/>
          </p:cNvSpPr>
          <p:nvPr/>
        </p:nvSpPr>
        <p:spPr>
          <a:xfrm xmlns:a="http://schemas.openxmlformats.org/drawingml/2006/main">
            <a:off x="1524000" y="2171700"/>
            <a:ext cx="9715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7324D"/>
                </a:solidFill>
                <a:latin typeface="Helvetica Neue"/>
                <a:ea typeface="Helvetica Neue"/>
                <a:cs typeface="Helvetica Neue"/>
              </a:defRPr>
            </a:pPr>
            <a:r>
              <a:rPr sz="1950" b="0">
                <a:solidFill>
                  <a:srgbClr val="17324D"/>
                </a:solidFill>
                <a:latin typeface="Helvetica Neue"/>
                <a:ea typeface="Helvetica Neue"/>
                <a:cs typeface="Helvetica Neue"/>
              </a:rPr>
              <a:t>Changes accumulate and teams coordinate across many dependencies.</a:t>
            </a:r>
          </a:p>
        </p:txBody>
      </p:sp>
      <p:sp>
        <p:nvSpPr>
          <p:cNvPr id="7" name="">
            <a:extLst xmlns:a="http://schemas.openxmlformats.org/drawingml/2006/main">
              <a:ext uri="{FF2B5EF4-FFF2-40B4-BE49-F238E27FC236}">
                <a16:creationId xmlns:a16="http://schemas.microsoft.com/office/drawing/2014/main" id="{175D3D4B-C292-4E86-AB8A-69C34014C19F}"/>
              </a:ext>
            </a:extLst>
          </p:cNvPr>
          <p:cNvSpPr>
            <a:spLocks xmlns:a="http://schemas.openxmlformats.org/drawingml/2006/main" noGrp="1"/>
          </p:cNvSpPr>
          <p:nvPr/>
        </p:nvSpPr>
        <p:spPr>
          <a:xfrm xmlns:a="http://schemas.openxmlformats.org/drawingml/2006/main">
            <a:off x="685800" y="30956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87F8C"/>
                </a:solidFill>
                <a:latin typeface="Helvetica Neue"/>
                <a:ea typeface="Helvetica Neue"/>
                <a:cs typeface="Helvetica Neue"/>
              </a:defRPr>
            </a:pPr>
            <a:r>
              <a:rPr sz="2700" b="1">
                <a:solidFill>
                  <a:srgbClr val="087F8C"/>
                </a:solidFill>
                <a:latin typeface="Helvetica Neue"/>
                <a:ea typeface="Helvetica Neue"/>
                <a:cs typeface="Helvetica Neue"/>
              </a:rPr>
              <a:t>02</a:t>
            </a:r>
          </a:p>
        </p:txBody>
      </p:sp>
      <p:sp>
        <p:nvSpPr>
          <p:cNvPr id="8" name="">
            <a:extLst xmlns:a="http://schemas.openxmlformats.org/drawingml/2006/main">
              <a:ext uri="{FF2B5EF4-FFF2-40B4-BE49-F238E27FC236}">
                <a16:creationId xmlns:a16="http://schemas.microsoft.com/office/drawing/2014/main" id="{2D19E3C2-5678-43A9-8F60-119ACE843A9C}"/>
              </a:ext>
            </a:extLst>
          </p:cNvPr>
          <p:cNvSpPr>
            <a:spLocks xmlns:a="http://schemas.openxmlformats.org/drawingml/2006/main" noGrp="1"/>
          </p:cNvSpPr>
          <p:nvPr/>
        </p:nvSpPr>
        <p:spPr>
          <a:xfrm xmlns:a="http://schemas.openxmlformats.org/drawingml/2006/main">
            <a:off x="1524000" y="3095625"/>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24D"/>
                </a:solidFill>
                <a:latin typeface="Helvetica Neue"/>
                <a:ea typeface="Helvetica Neue"/>
                <a:cs typeface="Helvetica Neue"/>
              </a:defRPr>
            </a:pPr>
            <a:r>
              <a:rPr sz="2250" b="1">
                <a:solidFill>
                  <a:srgbClr val="17324D"/>
                </a:solidFill>
                <a:latin typeface="Helvetica Neue"/>
                <a:ea typeface="Helvetica Neue"/>
                <a:cs typeface="Helvetica Neue"/>
              </a:rPr>
              <a:t>Queues between specialist teams</a:t>
            </a:r>
          </a:p>
        </p:txBody>
      </p:sp>
      <p:sp>
        <p:nvSpPr>
          <p:cNvPr id="9" name="">
            <a:extLst xmlns:a="http://schemas.openxmlformats.org/drawingml/2006/main">
              <a:ext uri="{FF2B5EF4-FFF2-40B4-BE49-F238E27FC236}">
                <a16:creationId xmlns:a16="http://schemas.microsoft.com/office/drawing/2014/main" id="{98980B0D-FA00-4667-865F-2B7752918356}"/>
              </a:ext>
            </a:extLst>
          </p:cNvPr>
          <p:cNvSpPr>
            <a:spLocks xmlns:a="http://schemas.openxmlformats.org/drawingml/2006/main" noGrp="1"/>
          </p:cNvSpPr>
          <p:nvPr/>
        </p:nvSpPr>
        <p:spPr>
          <a:xfrm xmlns:a="http://schemas.openxmlformats.org/drawingml/2006/main">
            <a:off x="1524000" y="3552825"/>
            <a:ext cx="9715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7324D"/>
                </a:solidFill>
                <a:latin typeface="Helvetica Neue"/>
                <a:ea typeface="Helvetica Neue"/>
                <a:cs typeface="Helvetica Neue"/>
              </a:defRPr>
            </a:pPr>
            <a:r>
              <a:rPr sz="1950" b="0">
                <a:solidFill>
                  <a:srgbClr val="17324D"/>
                </a:solidFill>
                <a:latin typeface="Helvetica Neue"/>
                <a:ea typeface="Helvetica Neue"/>
                <a:cs typeface="Helvetica Neue"/>
              </a:rPr>
              <a:t>Manual testing, scarce environments, and approval gates delay deployment.</a:t>
            </a:r>
          </a:p>
        </p:txBody>
      </p:sp>
      <p:sp>
        <p:nvSpPr>
          <p:cNvPr id="10" name="">
            <a:extLst xmlns:a="http://schemas.openxmlformats.org/drawingml/2006/main">
              <a:ext uri="{FF2B5EF4-FFF2-40B4-BE49-F238E27FC236}">
                <a16:creationId xmlns:a16="http://schemas.microsoft.com/office/drawing/2014/main" id="{F121C934-B8A4-4686-92E5-506CCC684AFB}"/>
              </a:ext>
            </a:extLst>
          </p:cNvPr>
          <p:cNvSpPr>
            <a:spLocks xmlns:a="http://schemas.openxmlformats.org/drawingml/2006/main" noGrp="1"/>
          </p:cNvSpPr>
          <p:nvPr/>
        </p:nvSpPr>
        <p:spPr>
          <a:xfrm xmlns:a="http://schemas.openxmlformats.org/drawingml/2006/main">
            <a:off x="685800" y="4476750"/>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87F8C"/>
                </a:solidFill>
                <a:latin typeface="Helvetica Neue"/>
                <a:ea typeface="Helvetica Neue"/>
                <a:cs typeface="Helvetica Neue"/>
              </a:defRPr>
            </a:pPr>
            <a:r>
              <a:rPr sz="2700" b="1">
                <a:solidFill>
                  <a:srgbClr val="087F8C"/>
                </a:solidFill>
                <a:latin typeface="Helvetica Neue"/>
                <a:ea typeface="Helvetica Neue"/>
                <a:cs typeface="Helvetica Neue"/>
              </a:rPr>
              <a:t>03</a:t>
            </a:r>
          </a:p>
        </p:txBody>
      </p:sp>
      <p:sp>
        <p:nvSpPr>
          <p:cNvPr id="11" name="">
            <a:extLst xmlns:a="http://schemas.openxmlformats.org/drawingml/2006/main">
              <a:ext uri="{FF2B5EF4-FFF2-40B4-BE49-F238E27FC236}">
                <a16:creationId xmlns:a16="http://schemas.microsoft.com/office/drawing/2014/main" id="{B826A9B4-E900-4031-9A2B-2FE2CDE0348A}"/>
              </a:ext>
            </a:extLst>
          </p:cNvPr>
          <p:cNvSpPr>
            <a:spLocks xmlns:a="http://schemas.openxmlformats.org/drawingml/2006/main" noGrp="1"/>
          </p:cNvSpPr>
          <p:nvPr/>
        </p:nvSpPr>
        <p:spPr>
          <a:xfrm xmlns:a="http://schemas.openxmlformats.org/drawingml/2006/main">
            <a:off x="1524000" y="4476750"/>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24D"/>
                </a:solidFill>
                <a:latin typeface="Helvetica Neue"/>
                <a:ea typeface="Helvetica Neue"/>
                <a:cs typeface="Helvetica Neue"/>
              </a:defRPr>
            </a:pPr>
            <a:r>
              <a:rPr sz="2250" b="1">
                <a:solidFill>
                  <a:srgbClr val="17324D"/>
                </a:solidFill>
                <a:latin typeface="Helvetica Neue"/>
                <a:ea typeface="Helvetica Neue"/>
                <a:cs typeface="Helvetica Neue"/>
              </a:rPr>
              <a:t>Late integration and rework</a:t>
            </a:r>
          </a:p>
        </p:txBody>
      </p:sp>
      <p:sp>
        <p:nvSpPr>
          <p:cNvPr id="12" name="">
            <a:extLst xmlns:a="http://schemas.openxmlformats.org/drawingml/2006/main">
              <a:ext uri="{FF2B5EF4-FFF2-40B4-BE49-F238E27FC236}">
                <a16:creationId xmlns:a16="http://schemas.microsoft.com/office/drawing/2014/main" id="{F549B8A6-9291-461F-9D58-4D370E02B220}"/>
              </a:ext>
            </a:extLst>
          </p:cNvPr>
          <p:cNvSpPr>
            <a:spLocks xmlns:a="http://schemas.openxmlformats.org/drawingml/2006/main" noGrp="1"/>
          </p:cNvSpPr>
          <p:nvPr/>
        </p:nvSpPr>
        <p:spPr>
          <a:xfrm xmlns:a="http://schemas.openxmlformats.org/drawingml/2006/main">
            <a:off x="1524000" y="4933950"/>
            <a:ext cx="9715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7324D"/>
                </a:solidFill>
                <a:latin typeface="Helvetica Neue"/>
                <a:ea typeface="Helvetica Neue"/>
                <a:cs typeface="Helvetica Neue"/>
              </a:defRPr>
            </a:pPr>
            <a:r>
              <a:rPr sz="1950" b="0">
                <a:solidFill>
                  <a:srgbClr val="17324D"/>
                </a:solidFill>
                <a:latin typeface="Helvetica Neue"/>
                <a:ea typeface="Helvetica Neue"/>
                <a:cs typeface="Helvetica Neue"/>
              </a:rPr>
              <a:t>Teams discover defects near release, when diagnosis and fixes take longer.</a:t>
            </a:r>
          </a:p>
        </p:txBody>
      </p:sp>
    </p:spTree>
    <p:extLst>
      <p:ext uri="{BB962C8B-B14F-4D97-AF65-F5344CB8AC3E}">
        <p14:creationId xmlns:p14="http://schemas.microsoft.com/office/powerpoint/2010/main" val="687105660"/>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E2E6B08-D3BC-42E5-98AB-B498CE237EFA}"/>
              </a:ext>
            </a:extLst>
          </p:cNvPr>
          <p:cNvSpPr>
            <a:spLocks xmlns:a="http://schemas.openxmlformats.org/drawingml/2006/main" noGrp="1"/>
          </p:cNvSpPr>
          <p:nvPr/>
        </p:nvSpPr>
        <p:spPr>
          <a:xfrm xmlns:a="http://schemas.openxmlformats.org/drawingml/2006/main">
            <a:off x="666750" y="51435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7324D"/>
                </a:solidFill>
                <a:latin typeface="Helvetica Neue"/>
                <a:ea typeface="Helvetica Neue"/>
                <a:cs typeface="Helvetica Neue"/>
              </a:defRPr>
            </a:pPr>
            <a:r>
              <a:rPr sz="3300" b="1">
                <a:solidFill>
                  <a:srgbClr val="17324D"/>
                </a:solidFill>
                <a:latin typeface="Helvetica Neue"/>
                <a:ea typeface="Helvetica Neue"/>
                <a:cs typeface="Helvetica Neue"/>
              </a:rPr>
              <a:t>The DevOps ideal: minutes</a:t>
            </a:r>
          </a:p>
        </p:txBody>
      </p:sp>
      <p:sp>
        <p:nvSpPr>
          <p:cNvPr id="2" name="">
            <a:extLst xmlns:a="http://schemas.openxmlformats.org/drawingml/2006/main">
              <a:ext uri="{FF2B5EF4-FFF2-40B4-BE49-F238E27FC236}">
                <a16:creationId xmlns:a16="http://schemas.microsoft.com/office/drawing/2014/main" id="{658FE237-BBBF-4210-9897-60A73642E4A7}"/>
              </a:ext>
            </a:extLst>
          </p:cNvPr>
          <p:cNvSpPr>
            <a:spLocks xmlns:a="http://schemas.openxmlformats.org/drawingml/2006/main" noGrp="1"/>
          </p:cNvSpPr>
          <p:nvPr/>
        </p:nvSpPr>
        <p:spPr>
          <a:xfrm xmlns:a="http://schemas.openxmlformats.org/drawingml/2006/main">
            <a:off x="666750" y="6229350"/>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579"/>
                </a:solidFill>
                <a:latin typeface="Helvetica Neue"/>
                <a:ea typeface="Helvetica Neue"/>
                <a:cs typeface="Helvetica Neue"/>
              </a:defRPr>
            </a:pPr>
            <a:r>
              <a:rPr sz="1200" b="0">
                <a:solidFill>
                  <a:srgbClr val="526579"/>
                </a:solidFill>
                <a:latin typeface="Helvetica Neue"/>
                <a:ea typeface="Helvetica Neue"/>
                <a:cs typeface="Helvetica Neue"/>
              </a:rPr>
              <a:t>Kim et al. (2016), pp. 10–11; DORA (n.d.), Continuous delivery; Working in small batches</a:t>
            </a:r>
          </a:p>
        </p:txBody>
      </p:sp>
      <p:sp>
        <p:nvSpPr>
          <p:cNvPr id="3" name="">
            <a:extLst xmlns:a="http://schemas.openxmlformats.org/drawingml/2006/main">
              <a:ext uri="{FF2B5EF4-FFF2-40B4-BE49-F238E27FC236}">
                <a16:creationId xmlns:a16="http://schemas.microsoft.com/office/drawing/2014/main" id="{01EBA677-CED6-41BA-AC13-54B3A64D0B44}"/>
              </a:ext>
            </a:extLst>
          </p:cNvPr>
          <p:cNvSpPr>
            <a:spLocks xmlns:a="http://schemas.openxmlformats.org/drawingml/2006/main" noGrp="1"/>
          </p:cNvSpPr>
          <p:nvPr/>
        </p:nvSpPr>
        <p:spPr>
          <a:xfrm xmlns:a="http://schemas.openxmlformats.org/drawingml/2006/main">
            <a:off x="11239500" y="62293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579"/>
                </a:solidFill>
                <a:latin typeface="Helvetica Neue"/>
                <a:ea typeface="Helvetica Neue"/>
                <a:cs typeface="Helvetica Neue"/>
              </a:defRPr>
            </a:pPr>
            <a:r>
              <a:rPr sz="1200" b="0">
                <a:solidFill>
                  <a:srgbClr val="526579"/>
                </a:solidFill>
                <a:latin typeface="Helvetica Neue"/>
                <a:ea typeface="Helvetica Neue"/>
                <a:cs typeface="Helvetica Neue"/>
              </a:rPr>
              <a:t>6</a:t>
            </a:r>
          </a:p>
        </p:txBody>
      </p:sp>
      <p:sp>
        <p:nvSpPr>
          <p:cNvPr id="4" name="">
            <a:extLst xmlns:a="http://schemas.openxmlformats.org/drawingml/2006/main">
              <a:ext uri="{FF2B5EF4-FFF2-40B4-BE49-F238E27FC236}">
                <a16:creationId xmlns:a16="http://schemas.microsoft.com/office/drawing/2014/main" id="{EF38B392-E5BA-44E0-9E96-CF62CE445D35}"/>
              </a:ext>
            </a:extLst>
          </p:cNvPr>
          <p:cNvSpPr>
            <a:spLocks xmlns:a="http://schemas.openxmlformats.org/drawingml/2006/main" noGrp="1"/>
          </p:cNvSpPr>
          <p:nvPr/>
        </p:nvSpPr>
        <p:spPr>
          <a:xfrm xmlns:a="http://schemas.openxmlformats.org/drawingml/2006/main">
            <a:off x="704850" y="171450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087F8C"/>
                </a:solidFill>
                <a:latin typeface="Helvetica Neue"/>
                <a:ea typeface="Helvetica Neue"/>
                <a:cs typeface="Helvetica Neue"/>
              </a:defRPr>
            </a:pPr>
            <a:r>
              <a:rPr sz="2850" b="1">
                <a:solidFill>
                  <a:srgbClr val="087F8C"/>
                </a:solidFill>
                <a:latin typeface="Helvetica Neue"/>
                <a:ea typeface="Helvetica Neue"/>
                <a:cs typeface="Helvetica Neue"/>
              </a:rPr>
              <a:t>A small, validated change can reach production within minutes.</a:t>
            </a:r>
          </a:p>
        </p:txBody>
      </p:sp>
      <p:sp>
        <p:nvSpPr>
          <p:cNvPr id="5" name="">
            <a:extLst xmlns:a="http://schemas.openxmlformats.org/drawingml/2006/main">
              <a:ext uri="{FF2B5EF4-FFF2-40B4-BE49-F238E27FC236}">
                <a16:creationId xmlns:a16="http://schemas.microsoft.com/office/drawing/2014/main" id="{9CBB4815-8CC2-44D7-969E-5875D2E74934}"/>
              </a:ext>
            </a:extLst>
          </p:cNvPr>
          <p:cNvSpPr>
            <a:spLocks xmlns:a="http://schemas.openxmlformats.org/drawingml/2006/main" noGrp="1"/>
          </p:cNvSpPr>
          <p:nvPr/>
        </p:nvSpPr>
        <p:spPr>
          <a:xfrm xmlns:a="http://schemas.openxmlformats.org/drawingml/2006/main">
            <a:off x="704850" y="31432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24D"/>
                </a:solidFill>
                <a:latin typeface="Helvetica Neue"/>
                <a:ea typeface="Helvetica Neue"/>
                <a:cs typeface="Helvetica Neue"/>
              </a:defRPr>
            </a:pPr>
            <a:r>
              <a:rPr sz="2175" b="0">
                <a:solidFill>
                  <a:srgbClr val="17324D"/>
                </a:solidFill>
                <a:latin typeface="Helvetica Neue"/>
                <a:ea typeface="Helvetica Neue"/>
                <a:cs typeface="Helvetica Neue"/>
              </a:rPr>
              <a:t>Frequent commits and automated checks provide early feedback.</a:t>
            </a:r>
          </a:p>
        </p:txBody>
      </p:sp>
      <p:sp>
        <p:nvSpPr>
          <p:cNvPr id="6" name="">
            <a:extLst xmlns:a="http://schemas.openxmlformats.org/drawingml/2006/main">
              <a:ext uri="{FF2B5EF4-FFF2-40B4-BE49-F238E27FC236}">
                <a16:creationId xmlns:a16="http://schemas.microsoft.com/office/drawing/2014/main" id="{64BE4CE0-1C91-41D6-81E1-0EA1378EAF57}"/>
              </a:ext>
            </a:extLst>
          </p:cNvPr>
          <p:cNvSpPr>
            <a:spLocks xmlns:a="http://schemas.openxmlformats.org/drawingml/2006/main" noGrp="1"/>
          </p:cNvSpPr>
          <p:nvPr/>
        </p:nvSpPr>
        <p:spPr>
          <a:xfrm xmlns:a="http://schemas.openxmlformats.org/drawingml/2006/main">
            <a:off x="704850" y="40481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24D"/>
                </a:solidFill>
                <a:latin typeface="Helvetica Neue"/>
                <a:ea typeface="Helvetica Neue"/>
                <a:cs typeface="Helvetica Neue"/>
              </a:defRPr>
            </a:pPr>
            <a:r>
              <a:rPr sz="2175" b="0">
                <a:solidFill>
                  <a:srgbClr val="17324D"/>
                </a:solidFill>
                <a:latin typeface="Helvetica Neue"/>
                <a:ea typeface="Helvetica Neue"/>
                <a:cs typeface="Helvetica Neue"/>
              </a:rPr>
              <a:t>Teams deploy on demand and monitor the result.</a:t>
            </a:r>
          </a:p>
        </p:txBody>
      </p:sp>
      <p:sp>
        <p:nvSpPr>
          <p:cNvPr id="7" name="">
            <a:extLst xmlns:a="http://schemas.openxmlformats.org/drawingml/2006/main">
              <a:ext uri="{FF2B5EF4-FFF2-40B4-BE49-F238E27FC236}">
                <a16:creationId xmlns:a16="http://schemas.microsoft.com/office/drawing/2014/main" id="{B359124D-D0CC-4479-AEAD-2C40E8A6B3BB}"/>
              </a:ext>
            </a:extLst>
          </p:cNvPr>
          <p:cNvSpPr>
            <a:spLocks xmlns:a="http://schemas.openxmlformats.org/drawingml/2006/main" noGrp="1"/>
          </p:cNvSpPr>
          <p:nvPr/>
        </p:nvSpPr>
        <p:spPr>
          <a:xfrm xmlns:a="http://schemas.openxmlformats.org/drawingml/2006/main">
            <a:off x="704850" y="50482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526579"/>
                </a:solidFill>
                <a:latin typeface="Helvetica Neue"/>
                <a:ea typeface="Helvetica Neue"/>
                <a:cs typeface="Helvetica Neue"/>
              </a:defRPr>
            </a:pPr>
            <a:r>
              <a:rPr sz="2025" b="0">
                <a:solidFill>
                  <a:srgbClr val="526579"/>
                </a:solidFill>
                <a:latin typeface="Helvetica Neue"/>
                <a:ea typeface="Helvetica Neue"/>
                <a:cs typeface="Helvetica Neue"/>
              </a:rPr>
              <a:t>Minutes describe an ideal deployment path, not a promise for every change.</a:t>
            </a:r>
          </a:p>
        </p:txBody>
      </p:sp>
    </p:spTree>
    <p:extLst>
      <p:ext uri="{BB962C8B-B14F-4D97-AF65-F5344CB8AC3E}">
        <p14:creationId xmlns:p14="http://schemas.microsoft.com/office/powerpoint/2010/main" val="1907535756"/>
      </p:ext>
    </p:extLst>
  </p:cSld>
</p:sld>
</file>

<file path=ppt/slides/slide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0A9B4FC-C1A0-4802-98A4-66046BD8C191}"/>
              </a:ext>
            </a:extLst>
          </p:cNvPr>
          <p:cNvSpPr>
            <a:spLocks xmlns:a="http://schemas.openxmlformats.org/drawingml/2006/main" noGrp="1"/>
          </p:cNvSpPr>
          <p:nvPr/>
        </p:nvSpPr>
        <p:spPr>
          <a:xfrm xmlns:a="http://schemas.openxmlformats.org/drawingml/2006/main">
            <a:off x="666750" y="51435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7324D"/>
                </a:solidFill>
                <a:latin typeface="Helvetica Neue"/>
                <a:ea typeface="Helvetica Neue"/>
                <a:cs typeface="Helvetica Neue"/>
              </a:defRPr>
            </a:pPr>
            <a:r>
              <a:rPr sz="3300" b="1">
                <a:solidFill>
                  <a:srgbClr val="17324D"/>
                </a:solidFill>
                <a:latin typeface="Helvetica Neue"/>
                <a:ea typeface="Helvetica Neue"/>
                <a:cs typeface="Helvetica Neue"/>
              </a:rPr>
              <a:t>Practices that support fast delivery</a:t>
            </a:r>
          </a:p>
        </p:txBody>
      </p:sp>
      <p:sp>
        <p:nvSpPr>
          <p:cNvPr id="2" name="">
            <a:extLst xmlns:a="http://schemas.openxmlformats.org/drawingml/2006/main">
              <a:ext uri="{FF2B5EF4-FFF2-40B4-BE49-F238E27FC236}">
                <a16:creationId xmlns:a16="http://schemas.microsoft.com/office/drawing/2014/main" id="{1BDA7430-F811-4FEA-BD96-45C675CD5593}"/>
              </a:ext>
            </a:extLst>
          </p:cNvPr>
          <p:cNvSpPr>
            <a:spLocks xmlns:a="http://schemas.openxmlformats.org/drawingml/2006/main" noGrp="1"/>
          </p:cNvSpPr>
          <p:nvPr/>
        </p:nvSpPr>
        <p:spPr>
          <a:xfrm xmlns:a="http://schemas.openxmlformats.org/drawingml/2006/main">
            <a:off x="666750" y="6229350"/>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579"/>
                </a:solidFill>
                <a:latin typeface="Helvetica Neue"/>
                <a:ea typeface="Helvetica Neue"/>
                <a:cs typeface="Helvetica Neue"/>
              </a:defRPr>
            </a:pPr>
            <a:r>
              <a:rPr sz="1200" b="0">
                <a:solidFill>
                  <a:srgbClr val="526579"/>
                </a:solidFill>
                <a:latin typeface="Helvetica Neue"/>
                <a:ea typeface="Helvetica Neue"/>
                <a:cs typeface="Helvetica Neue"/>
              </a:rPr>
              <a:t>DORA (n.d.), Continuous delivery; Working in small batches</a:t>
            </a:r>
          </a:p>
        </p:txBody>
      </p:sp>
      <p:sp>
        <p:nvSpPr>
          <p:cNvPr id="3" name="">
            <a:extLst xmlns:a="http://schemas.openxmlformats.org/drawingml/2006/main">
              <a:ext uri="{FF2B5EF4-FFF2-40B4-BE49-F238E27FC236}">
                <a16:creationId xmlns:a16="http://schemas.microsoft.com/office/drawing/2014/main" id="{30DE522B-11E5-4238-B27D-A8D38D4AE0E1}"/>
              </a:ext>
            </a:extLst>
          </p:cNvPr>
          <p:cNvSpPr>
            <a:spLocks xmlns:a="http://schemas.openxmlformats.org/drawingml/2006/main" noGrp="1"/>
          </p:cNvSpPr>
          <p:nvPr/>
        </p:nvSpPr>
        <p:spPr>
          <a:xfrm xmlns:a="http://schemas.openxmlformats.org/drawingml/2006/main">
            <a:off x="11239500" y="62293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579"/>
                </a:solidFill>
                <a:latin typeface="Helvetica Neue"/>
                <a:ea typeface="Helvetica Neue"/>
                <a:cs typeface="Helvetica Neue"/>
              </a:defRPr>
            </a:pPr>
            <a:r>
              <a:rPr sz="1200" b="0">
                <a:solidFill>
                  <a:srgbClr val="526579"/>
                </a:solidFill>
                <a:latin typeface="Helvetica Neue"/>
                <a:ea typeface="Helvetica Neue"/>
                <a:cs typeface="Helvetica Neue"/>
              </a:rPr>
              <a:t>7</a:t>
            </a:r>
          </a:p>
        </p:txBody>
      </p:sp>
      <p:sp>
        <p:nvSpPr>
          <p:cNvPr id="4" name="">
            <a:extLst xmlns:a="http://schemas.openxmlformats.org/drawingml/2006/main">
              <a:ext uri="{FF2B5EF4-FFF2-40B4-BE49-F238E27FC236}">
                <a16:creationId xmlns:a16="http://schemas.microsoft.com/office/drawing/2014/main" id="{888C194B-D532-4332-A2A4-1509F12FDADE}"/>
              </a:ext>
            </a:extLst>
          </p:cNvPr>
          <p:cNvSpPr>
            <a:spLocks xmlns:a="http://schemas.openxmlformats.org/drawingml/2006/main" noGrp="1"/>
          </p:cNvSpPr>
          <p:nvPr/>
        </p:nvSpPr>
        <p:spPr>
          <a:xfrm xmlns:a="http://schemas.openxmlformats.org/drawingml/2006/main">
            <a:off x="685800" y="1714500"/>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87F8C"/>
                </a:solidFill>
                <a:latin typeface="Helvetica Neue"/>
                <a:ea typeface="Helvetica Neue"/>
                <a:cs typeface="Helvetica Neue"/>
              </a:defRPr>
            </a:pPr>
            <a:r>
              <a:rPr sz="2700" b="1">
                <a:solidFill>
                  <a:srgbClr val="087F8C"/>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FF420653-ACD5-454C-9C7E-C8E57CAC5416}"/>
              </a:ext>
            </a:extLst>
          </p:cNvPr>
          <p:cNvSpPr>
            <a:spLocks xmlns:a="http://schemas.openxmlformats.org/drawingml/2006/main" noGrp="1"/>
          </p:cNvSpPr>
          <p:nvPr/>
        </p:nvSpPr>
        <p:spPr>
          <a:xfrm xmlns:a="http://schemas.openxmlformats.org/drawingml/2006/main">
            <a:off x="1524000" y="1714500"/>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24D"/>
                </a:solidFill>
                <a:latin typeface="Helvetica Neue"/>
                <a:ea typeface="Helvetica Neue"/>
                <a:cs typeface="Helvetica Neue"/>
              </a:defRPr>
            </a:pPr>
            <a:r>
              <a:rPr sz="2250" b="1">
                <a:solidFill>
                  <a:srgbClr val="17324D"/>
                </a:solidFill>
                <a:latin typeface="Helvetica Neue"/>
                <a:ea typeface="Helvetica Neue"/>
                <a:cs typeface="Helvetica Neue"/>
              </a:rPr>
              <a:t>Small changes and frequent integration</a:t>
            </a:r>
          </a:p>
        </p:txBody>
      </p:sp>
      <p:sp>
        <p:nvSpPr>
          <p:cNvPr id="6" name="">
            <a:extLst xmlns:a="http://schemas.openxmlformats.org/drawingml/2006/main">
              <a:ext uri="{FF2B5EF4-FFF2-40B4-BE49-F238E27FC236}">
                <a16:creationId xmlns:a16="http://schemas.microsoft.com/office/drawing/2014/main" id="{6FF5E277-1919-4100-B807-DE04BF39EB68}"/>
              </a:ext>
            </a:extLst>
          </p:cNvPr>
          <p:cNvSpPr>
            <a:spLocks xmlns:a="http://schemas.openxmlformats.org/drawingml/2006/main" noGrp="1"/>
          </p:cNvSpPr>
          <p:nvPr/>
        </p:nvSpPr>
        <p:spPr>
          <a:xfrm xmlns:a="http://schemas.openxmlformats.org/drawingml/2006/main">
            <a:off x="1524000" y="2171700"/>
            <a:ext cx="9715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7324D"/>
                </a:solidFill>
                <a:latin typeface="Helvetica Neue"/>
                <a:ea typeface="Helvetica Neue"/>
                <a:cs typeface="Helvetica Neue"/>
              </a:defRPr>
            </a:pPr>
            <a:r>
              <a:rPr sz="1950" b="0">
                <a:solidFill>
                  <a:srgbClr val="17324D"/>
                </a:solidFill>
                <a:latin typeface="Helvetica Neue"/>
                <a:ea typeface="Helvetica Neue"/>
                <a:cs typeface="Helvetica Neue"/>
              </a:rPr>
              <a:t>Keep each change easy to review, test, and correct.</a:t>
            </a:r>
          </a:p>
        </p:txBody>
      </p:sp>
      <p:sp>
        <p:nvSpPr>
          <p:cNvPr id="7" name="">
            <a:extLst xmlns:a="http://schemas.openxmlformats.org/drawingml/2006/main">
              <a:ext uri="{FF2B5EF4-FFF2-40B4-BE49-F238E27FC236}">
                <a16:creationId xmlns:a16="http://schemas.microsoft.com/office/drawing/2014/main" id="{0AA73B17-ACE8-487D-93F5-250D63280722}"/>
              </a:ext>
            </a:extLst>
          </p:cNvPr>
          <p:cNvSpPr>
            <a:spLocks xmlns:a="http://schemas.openxmlformats.org/drawingml/2006/main" noGrp="1"/>
          </p:cNvSpPr>
          <p:nvPr/>
        </p:nvSpPr>
        <p:spPr>
          <a:xfrm xmlns:a="http://schemas.openxmlformats.org/drawingml/2006/main">
            <a:off x="685800" y="30956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87F8C"/>
                </a:solidFill>
                <a:latin typeface="Helvetica Neue"/>
                <a:ea typeface="Helvetica Neue"/>
                <a:cs typeface="Helvetica Neue"/>
              </a:defRPr>
            </a:pPr>
            <a:r>
              <a:rPr sz="2700" b="1">
                <a:solidFill>
                  <a:srgbClr val="087F8C"/>
                </a:solidFill>
                <a:latin typeface="Helvetica Neue"/>
                <a:ea typeface="Helvetica Neue"/>
                <a:cs typeface="Helvetica Neue"/>
              </a:rPr>
              <a:t>02</a:t>
            </a:r>
          </a:p>
        </p:txBody>
      </p:sp>
      <p:sp>
        <p:nvSpPr>
          <p:cNvPr id="8" name="">
            <a:extLst xmlns:a="http://schemas.openxmlformats.org/drawingml/2006/main">
              <a:ext uri="{FF2B5EF4-FFF2-40B4-BE49-F238E27FC236}">
                <a16:creationId xmlns:a16="http://schemas.microsoft.com/office/drawing/2014/main" id="{8B28DFDE-292C-4F6B-AF0B-93F7647FE1E9}"/>
              </a:ext>
            </a:extLst>
          </p:cNvPr>
          <p:cNvSpPr>
            <a:spLocks xmlns:a="http://schemas.openxmlformats.org/drawingml/2006/main" noGrp="1"/>
          </p:cNvSpPr>
          <p:nvPr/>
        </p:nvSpPr>
        <p:spPr>
          <a:xfrm xmlns:a="http://schemas.openxmlformats.org/drawingml/2006/main">
            <a:off x="1524000" y="3095625"/>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24D"/>
                </a:solidFill>
                <a:latin typeface="Helvetica Neue"/>
                <a:ea typeface="Helvetica Neue"/>
                <a:cs typeface="Helvetica Neue"/>
              </a:defRPr>
            </a:pPr>
            <a:r>
              <a:rPr sz="2250" b="1">
                <a:solidFill>
                  <a:srgbClr val="17324D"/>
                </a:solidFill>
                <a:latin typeface="Helvetica Neue"/>
                <a:ea typeface="Helvetica Neue"/>
                <a:cs typeface="Helvetica Neue"/>
              </a:rPr>
              <a:t>Testing and deployment automation</a:t>
            </a:r>
          </a:p>
        </p:txBody>
      </p:sp>
      <p:sp>
        <p:nvSpPr>
          <p:cNvPr id="9" name="">
            <a:extLst xmlns:a="http://schemas.openxmlformats.org/drawingml/2006/main">
              <a:ext uri="{FF2B5EF4-FFF2-40B4-BE49-F238E27FC236}">
                <a16:creationId xmlns:a16="http://schemas.microsoft.com/office/drawing/2014/main" id="{A0AE89CF-CDED-469D-BF7F-C32849535339}"/>
              </a:ext>
            </a:extLst>
          </p:cNvPr>
          <p:cNvSpPr>
            <a:spLocks xmlns:a="http://schemas.openxmlformats.org/drawingml/2006/main" noGrp="1"/>
          </p:cNvSpPr>
          <p:nvPr/>
        </p:nvSpPr>
        <p:spPr>
          <a:xfrm xmlns:a="http://schemas.openxmlformats.org/drawingml/2006/main">
            <a:off x="1524000" y="3552825"/>
            <a:ext cx="9715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7324D"/>
                </a:solidFill>
                <a:latin typeface="Helvetica Neue"/>
                <a:ea typeface="Helvetica Neue"/>
                <a:cs typeface="Helvetica Neue"/>
              </a:defRPr>
            </a:pPr>
            <a:r>
              <a:rPr sz="1950" b="0">
                <a:solidFill>
                  <a:srgbClr val="17324D"/>
                </a:solidFill>
                <a:latin typeface="Helvetica Neue"/>
                <a:ea typeface="Helvetica Neue"/>
                <a:cs typeface="Helvetica Neue"/>
              </a:rPr>
              <a:t>Run repeatable checks and release the same validated artifact.</a:t>
            </a:r>
          </a:p>
        </p:txBody>
      </p:sp>
      <p:sp>
        <p:nvSpPr>
          <p:cNvPr id="10" name="">
            <a:extLst xmlns:a="http://schemas.openxmlformats.org/drawingml/2006/main">
              <a:ext uri="{FF2B5EF4-FFF2-40B4-BE49-F238E27FC236}">
                <a16:creationId xmlns:a16="http://schemas.microsoft.com/office/drawing/2014/main" id="{B10DE5B3-50BB-448A-865D-F94BC8263029}"/>
              </a:ext>
            </a:extLst>
          </p:cNvPr>
          <p:cNvSpPr>
            <a:spLocks xmlns:a="http://schemas.openxmlformats.org/drawingml/2006/main" noGrp="1"/>
          </p:cNvSpPr>
          <p:nvPr/>
        </p:nvSpPr>
        <p:spPr>
          <a:xfrm xmlns:a="http://schemas.openxmlformats.org/drawingml/2006/main">
            <a:off x="685800" y="4476750"/>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87F8C"/>
                </a:solidFill>
                <a:latin typeface="Helvetica Neue"/>
                <a:ea typeface="Helvetica Neue"/>
                <a:cs typeface="Helvetica Neue"/>
              </a:defRPr>
            </a:pPr>
            <a:r>
              <a:rPr sz="2700" b="1">
                <a:solidFill>
                  <a:srgbClr val="087F8C"/>
                </a:solidFill>
                <a:latin typeface="Helvetica Neue"/>
                <a:ea typeface="Helvetica Neue"/>
                <a:cs typeface="Helvetica Neue"/>
              </a:rPr>
              <a:t>03</a:t>
            </a:r>
          </a:p>
        </p:txBody>
      </p:sp>
      <p:sp>
        <p:nvSpPr>
          <p:cNvPr id="11" name="">
            <a:extLst xmlns:a="http://schemas.openxmlformats.org/drawingml/2006/main">
              <a:ext uri="{FF2B5EF4-FFF2-40B4-BE49-F238E27FC236}">
                <a16:creationId xmlns:a16="http://schemas.microsoft.com/office/drawing/2014/main" id="{65088B07-8E61-4EF8-9A3A-FC790E8F42A8}"/>
              </a:ext>
            </a:extLst>
          </p:cNvPr>
          <p:cNvSpPr>
            <a:spLocks xmlns:a="http://schemas.openxmlformats.org/drawingml/2006/main" noGrp="1"/>
          </p:cNvSpPr>
          <p:nvPr/>
        </p:nvSpPr>
        <p:spPr>
          <a:xfrm xmlns:a="http://schemas.openxmlformats.org/drawingml/2006/main">
            <a:off x="1524000" y="4476750"/>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7324D"/>
                </a:solidFill>
                <a:latin typeface="Helvetica Neue"/>
                <a:ea typeface="Helvetica Neue"/>
                <a:cs typeface="Helvetica Neue"/>
              </a:defRPr>
            </a:pPr>
            <a:r>
              <a:rPr sz="2250" b="1">
                <a:solidFill>
                  <a:srgbClr val="17324D"/>
                </a:solidFill>
                <a:latin typeface="Helvetica Neue"/>
                <a:ea typeface="Helvetica Neue"/>
                <a:cs typeface="Helvetica Neue"/>
              </a:rPr>
              <a:t>Shared ownership and production feedback</a:t>
            </a:r>
          </a:p>
        </p:txBody>
      </p:sp>
      <p:sp>
        <p:nvSpPr>
          <p:cNvPr id="12" name="">
            <a:extLst xmlns:a="http://schemas.openxmlformats.org/drawingml/2006/main">
              <a:ext uri="{FF2B5EF4-FFF2-40B4-BE49-F238E27FC236}">
                <a16:creationId xmlns:a16="http://schemas.microsoft.com/office/drawing/2014/main" id="{A60F72D8-AEE1-43EA-9D72-EBFC84001A4A}"/>
              </a:ext>
            </a:extLst>
          </p:cNvPr>
          <p:cNvSpPr>
            <a:spLocks xmlns:a="http://schemas.openxmlformats.org/drawingml/2006/main" noGrp="1"/>
          </p:cNvSpPr>
          <p:nvPr/>
        </p:nvSpPr>
        <p:spPr>
          <a:xfrm xmlns:a="http://schemas.openxmlformats.org/drawingml/2006/main">
            <a:off x="1524000" y="4933950"/>
            <a:ext cx="9715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7324D"/>
                </a:solidFill>
                <a:latin typeface="Helvetica Neue"/>
                <a:ea typeface="Helvetica Neue"/>
                <a:cs typeface="Helvetica Neue"/>
              </a:defRPr>
            </a:pPr>
            <a:r>
              <a:rPr sz="1950" b="0">
                <a:solidFill>
                  <a:srgbClr val="17324D"/>
                </a:solidFill>
                <a:latin typeface="Helvetica Neue"/>
                <a:ea typeface="Helvetica Neue"/>
                <a:cs typeface="Helvetica Neue"/>
              </a:rPr>
              <a:t>Bring operations and security into delivery, then observe customer impact.</a:t>
            </a:r>
          </a:p>
        </p:txBody>
      </p:sp>
    </p:spTree>
    <p:extLst>
      <p:ext uri="{BB962C8B-B14F-4D97-AF65-F5344CB8AC3E}">
        <p14:creationId xmlns:p14="http://schemas.microsoft.com/office/powerpoint/2010/main" val="1864064619"/>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61C770A-C9CE-49BD-8911-A324550E56D1}"/>
              </a:ext>
            </a:extLst>
          </p:cNvPr>
          <p:cNvSpPr>
            <a:spLocks xmlns:a="http://schemas.openxmlformats.org/drawingml/2006/main" noGrp="1"/>
          </p:cNvSpPr>
          <p:nvPr/>
        </p:nvSpPr>
        <p:spPr>
          <a:xfrm xmlns:a="http://schemas.openxmlformats.org/drawingml/2006/main">
            <a:off x="666750" y="51435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7324D"/>
                </a:solidFill>
                <a:latin typeface="Helvetica Neue"/>
                <a:ea typeface="Helvetica Neue"/>
                <a:cs typeface="Helvetica Neue"/>
              </a:defRPr>
            </a:pPr>
            <a:r>
              <a:rPr sz="3300" b="1">
                <a:solidFill>
                  <a:srgbClr val="17324D"/>
                </a:solidFill>
                <a:latin typeface="Helvetica Neue"/>
                <a:ea typeface="Helvetica Neue"/>
                <a:cs typeface="Helvetica Neue"/>
              </a:rPr>
              <a:t>Improvement across the whole stream</a:t>
            </a:r>
          </a:p>
        </p:txBody>
      </p:sp>
      <p:sp>
        <p:nvSpPr>
          <p:cNvPr id="2" name="">
            <a:extLst xmlns:a="http://schemas.openxmlformats.org/drawingml/2006/main">
              <a:ext uri="{FF2B5EF4-FFF2-40B4-BE49-F238E27FC236}">
                <a16:creationId xmlns:a16="http://schemas.microsoft.com/office/drawing/2014/main" id="{0C91E45B-2E35-41D9-9A77-BD2513E5E36A}"/>
              </a:ext>
            </a:extLst>
          </p:cNvPr>
          <p:cNvSpPr>
            <a:spLocks xmlns:a="http://schemas.openxmlformats.org/drawingml/2006/main" noGrp="1"/>
          </p:cNvSpPr>
          <p:nvPr/>
        </p:nvSpPr>
        <p:spPr>
          <a:xfrm xmlns:a="http://schemas.openxmlformats.org/drawingml/2006/main">
            <a:off x="666750" y="6229350"/>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579"/>
                </a:solidFill>
                <a:latin typeface="Helvetica Neue"/>
                <a:ea typeface="Helvetica Neue"/>
                <a:cs typeface="Helvetica Neue"/>
              </a:defRPr>
            </a:pPr>
            <a:r>
              <a:rPr sz="1200" b="0">
                <a:solidFill>
                  <a:srgbClr val="526579"/>
                </a:solidFill>
                <a:latin typeface="Helvetica Neue"/>
                <a:ea typeface="Helvetica Neue"/>
                <a:cs typeface="Helvetica Neue"/>
              </a:rPr>
              <a:t>DORA (2026), DORA’s software delivery performance metrics</a:t>
            </a:r>
          </a:p>
        </p:txBody>
      </p:sp>
      <p:sp>
        <p:nvSpPr>
          <p:cNvPr id="3" name="">
            <a:extLst xmlns:a="http://schemas.openxmlformats.org/drawingml/2006/main">
              <a:ext uri="{FF2B5EF4-FFF2-40B4-BE49-F238E27FC236}">
                <a16:creationId xmlns:a16="http://schemas.microsoft.com/office/drawing/2014/main" id="{DC52CB34-6DBA-4EA7-9BBD-F64584CE5A25}"/>
              </a:ext>
            </a:extLst>
          </p:cNvPr>
          <p:cNvSpPr>
            <a:spLocks xmlns:a="http://schemas.openxmlformats.org/drawingml/2006/main" noGrp="1"/>
          </p:cNvSpPr>
          <p:nvPr/>
        </p:nvSpPr>
        <p:spPr>
          <a:xfrm xmlns:a="http://schemas.openxmlformats.org/drawingml/2006/main">
            <a:off x="11239500" y="62293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579"/>
                </a:solidFill>
                <a:latin typeface="Helvetica Neue"/>
                <a:ea typeface="Helvetica Neue"/>
                <a:cs typeface="Helvetica Neue"/>
              </a:defRPr>
            </a:pPr>
            <a:r>
              <a:rPr sz="1200" b="0">
                <a:solidFill>
                  <a:srgbClr val="526579"/>
                </a:solidFill>
                <a:latin typeface="Helvetica Neue"/>
                <a:ea typeface="Helvetica Neue"/>
                <a:cs typeface="Helvetica Neue"/>
              </a:rPr>
              <a:t>8</a:t>
            </a:r>
          </a:p>
        </p:txBody>
      </p:sp>
      <p:sp>
        <p:nvSpPr>
          <p:cNvPr id="4" name="">
            <a:extLst xmlns:a="http://schemas.openxmlformats.org/drawingml/2006/main">
              <a:ext uri="{FF2B5EF4-FFF2-40B4-BE49-F238E27FC236}">
                <a16:creationId xmlns:a16="http://schemas.microsoft.com/office/drawing/2014/main" id="{2EC4EA3F-8210-4001-A3FD-D112B048DFAB}"/>
              </a:ext>
            </a:extLst>
          </p:cNvPr>
          <p:cNvSpPr>
            <a:spLocks xmlns:a="http://schemas.openxmlformats.org/drawingml/2006/main" noGrp="1"/>
          </p:cNvSpPr>
          <p:nvPr/>
        </p:nvSpPr>
        <p:spPr>
          <a:xfrm xmlns:a="http://schemas.openxmlformats.org/drawingml/2006/main">
            <a:off x="704850" y="17621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87F8C"/>
                </a:solidFill>
                <a:latin typeface="Helvetica Neue"/>
                <a:ea typeface="Helvetica Neue"/>
                <a:cs typeface="Helvetica Neue"/>
              </a:defRPr>
            </a:pPr>
            <a:r>
              <a:rPr sz="2700" b="1">
                <a:solidFill>
                  <a:srgbClr val="087F8C"/>
                </a:solidFill>
                <a:latin typeface="Helvetica Neue"/>
                <a:ea typeface="Helvetica Neue"/>
                <a:cs typeface="Helvetica Neue"/>
              </a:rPr>
              <a:t>Map the work and locate the longest queue.</a:t>
            </a:r>
          </a:p>
        </p:txBody>
      </p:sp>
      <p:sp>
        <p:nvSpPr>
          <p:cNvPr id="5" name="">
            <a:extLst xmlns:a="http://schemas.openxmlformats.org/drawingml/2006/main">
              <a:ext uri="{FF2B5EF4-FFF2-40B4-BE49-F238E27FC236}">
                <a16:creationId xmlns:a16="http://schemas.microsoft.com/office/drawing/2014/main" id="{736842A8-7AE7-4A43-8078-8B0E5C9B282C}"/>
              </a:ext>
            </a:extLst>
          </p:cNvPr>
          <p:cNvSpPr>
            <a:spLocks xmlns:a="http://schemas.openxmlformats.org/drawingml/2006/main" noGrp="1"/>
          </p:cNvSpPr>
          <p:nvPr/>
        </p:nvSpPr>
        <p:spPr>
          <a:xfrm xmlns:a="http://schemas.openxmlformats.org/drawingml/2006/main">
            <a:off x="704850" y="28098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24D"/>
                </a:solidFill>
                <a:latin typeface="Helvetica Neue"/>
                <a:ea typeface="Helvetica Neue"/>
                <a:cs typeface="Helvetica Neue"/>
              </a:defRPr>
            </a:pPr>
            <a:r>
              <a:rPr sz="2175" b="0">
                <a:solidFill>
                  <a:srgbClr val="17324D"/>
                </a:solidFill>
                <a:latin typeface="Helvetica Neue"/>
                <a:ea typeface="Helvetica Neue"/>
                <a:cs typeface="Helvetica Neue"/>
              </a:rPr>
              <a:t>Measure change lead time and deployment frequency.</a:t>
            </a:r>
          </a:p>
        </p:txBody>
      </p:sp>
      <p:sp>
        <p:nvSpPr>
          <p:cNvPr id="6" name="">
            <a:extLst xmlns:a="http://schemas.openxmlformats.org/drawingml/2006/main">
              <a:ext uri="{FF2B5EF4-FFF2-40B4-BE49-F238E27FC236}">
                <a16:creationId xmlns:a16="http://schemas.microsoft.com/office/drawing/2014/main" id="{41C6F1F1-2F93-4FD2-8D64-6536D5816FAE}"/>
              </a:ext>
            </a:extLst>
          </p:cNvPr>
          <p:cNvSpPr>
            <a:spLocks xmlns:a="http://schemas.openxmlformats.org/drawingml/2006/main" noGrp="1"/>
          </p:cNvSpPr>
          <p:nvPr/>
        </p:nvSpPr>
        <p:spPr>
          <a:xfrm xmlns:a="http://schemas.openxmlformats.org/drawingml/2006/main">
            <a:off x="704850" y="37147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24D"/>
                </a:solidFill>
                <a:latin typeface="Helvetica Neue"/>
                <a:ea typeface="Helvetica Neue"/>
                <a:cs typeface="Helvetica Neue"/>
              </a:defRPr>
            </a:pPr>
            <a:r>
              <a:rPr sz="2175" b="0">
                <a:solidFill>
                  <a:srgbClr val="17324D"/>
                </a:solidFill>
                <a:latin typeface="Helvetica Neue"/>
                <a:ea typeface="Helvetica Neue"/>
                <a:cs typeface="Helvetica Neue"/>
              </a:rPr>
              <a:t>Check change failures and recovery time alongside speed.</a:t>
            </a:r>
          </a:p>
        </p:txBody>
      </p:sp>
      <p:sp>
        <p:nvSpPr>
          <p:cNvPr id="7" name="">
            <a:extLst xmlns:a="http://schemas.openxmlformats.org/drawingml/2006/main">
              <a:ext uri="{FF2B5EF4-FFF2-40B4-BE49-F238E27FC236}">
                <a16:creationId xmlns:a16="http://schemas.microsoft.com/office/drawing/2014/main" id="{A658FA9E-4199-4AFA-A060-4F5D6266B249}"/>
              </a:ext>
            </a:extLst>
          </p:cNvPr>
          <p:cNvSpPr>
            <a:spLocks xmlns:a="http://schemas.openxmlformats.org/drawingml/2006/main" noGrp="1"/>
          </p:cNvSpPr>
          <p:nvPr/>
        </p:nvSpPr>
        <p:spPr>
          <a:xfrm xmlns:a="http://schemas.openxmlformats.org/drawingml/2006/main">
            <a:off x="704850" y="48577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17324D"/>
                </a:solidFill>
                <a:latin typeface="Helvetica Neue"/>
                <a:ea typeface="Helvetica Neue"/>
                <a:cs typeface="Helvetica Neue"/>
              </a:defRPr>
            </a:pPr>
            <a:r>
              <a:rPr sz="2550" b="1">
                <a:solidFill>
                  <a:srgbClr val="17324D"/>
                </a:solidFill>
                <a:latin typeface="Helvetica Neue"/>
                <a:ea typeface="Helvetica Neue"/>
                <a:cs typeface="Helvetica Neue"/>
              </a:rPr>
              <a:t>The goal: useful changes delivered quickly and reliably.</a:t>
            </a:r>
          </a:p>
        </p:txBody>
      </p:sp>
    </p:spTree>
    <p:extLst>
      <p:ext uri="{BB962C8B-B14F-4D97-AF65-F5344CB8AC3E}">
        <p14:creationId xmlns:p14="http://schemas.microsoft.com/office/powerpoint/2010/main" val="1745280236"/>
      </p:ext>
    </p:extLst>
  </p:cSld>
</p:sld>
</file>

<file path=ppt/slides/slide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B15E1F4-C2A6-4D65-8850-519B5CFE5A12}"/>
              </a:ext>
            </a:extLst>
          </p:cNvPr>
          <p:cNvSpPr>
            <a:spLocks xmlns:a="http://schemas.openxmlformats.org/drawingml/2006/main" noGrp="1"/>
          </p:cNvSpPr>
          <p:nvPr/>
        </p:nvSpPr>
        <p:spPr>
          <a:xfrm xmlns:a="http://schemas.openxmlformats.org/drawingml/2006/main">
            <a:off x="666750" y="51435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7324D"/>
                </a:solidFill>
                <a:latin typeface="Helvetica Neue"/>
                <a:ea typeface="Helvetica Neue"/>
                <a:cs typeface="Helvetica Neue"/>
              </a:defRPr>
            </a:pPr>
            <a:r>
              <a:rPr sz="3300" b="1">
                <a:solidFill>
                  <a:srgbClr val="17324D"/>
                </a:solidFill>
                <a:latin typeface="Helvetica Neue"/>
                <a:ea typeface="Helvetica Neue"/>
                <a:cs typeface="Helvetica Neue"/>
              </a:rPr>
              <a:t>References</a:t>
            </a:r>
          </a:p>
        </p:txBody>
      </p:sp>
      <p:sp>
        <p:nvSpPr>
          <p:cNvPr id="2" name="">
            <a:extLst xmlns:a="http://schemas.openxmlformats.org/drawingml/2006/main">
              <a:ext uri="{FF2B5EF4-FFF2-40B4-BE49-F238E27FC236}">
                <a16:creationId xmlns:a16="http://schemas.microsoft.com/office/drawing/2014/main" id="{064836C5-ED90-45EB-B1ED-9FA6E2DEAAD5}"/>
              </a:ext>
            </a:extLst>
          </p:cNvPr>
          <p:cNvSpPr>
            <a:spLocks xmlns:a="http://schemas.openxmlformats.org/drawingml/2006/main" noGrp="1"/>
          </p:cNvSpPr>
          <p:nvPr/>
        </p:nvSpPr>
        <p:spPr>
          <a:xfrm xmlns:a="http://schemas.openxmlformats.org/drawingml/2006/main">
            <a:off x="11239500" y="62293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579"/>
                </a:solidFill>
                <a:latin typeface="Helvetica Neue"/>
                <a:ea typeface="Helvetica Neue"/>
                <a:cs typeface="Helvetica Neue"/>
              </a:defRPr>
            </a:pPr>
            <a:r>
              <a:rPr sz="1200" b="0">
                <a:solidFill>
                  <a:srgbClr val="526579"/>
                </a:solidFill>
                <a:latin typeface="Helvetica Neue"/>
                <a:ea typeface="Helvetica Neue"/>
                <a:cs typeface="Helvetica Neue"/>
              </a:rPr>
              <a:t>9</a:t>
            </a:r>
          </a:p>
        </p:txBody>
      </p:sp>
      <p:sp>
        <p:nvSpPr>
          <p:cNvPr id="3" name="">
            <a:extLst xmlns:a="http://schemas.openxmlformats.org/drawingml/2006/main">
              <a:ext uri="{FF2B5EF4-FFF2-40B4-BE49-F238E27FC236}">
                <a16:creationId xmlns:a16="http://schemas.microsoft.com/office/drawing/2014/main" id="{30B82E1C-3E4C-4FC0-AE1C-61320C65EBA9}"/>
              </a:ext>
            </a:extLst>
          </p:cNvPr>
          <p:cNvSpPr>
            <a:spLocks xmlns:a="http://schemas.openxmlformats.org/drawingml/2006/main" noGrp="1"/>
          </p:cNvSpPr>
          <p:nvPr/>
        </p:nvSpPr>
        <p:spPr>
          <a:xfrm xmlns:a="http://schemas.openxmlformats.org/drawingml/2006/main">
            <a:off x="704850" y="161925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7324D"/>
                </a:solidFill>
                <a:latin typeface="Helvetica Neue"/>
                <a:ea typeface="Helvetica Neue"/>
                <a:cs typeface="Helvetica Neue"/>
              </a:defRPr>
            </a:pPr>
            <a:r>
              <a:rPr sz="1725" b="1">
                <a:solidFill>
                  <a:srgbClr val="17324D"/>
                </a:solidFill>
                <a:latin typeface="Helvetica Neue"/>
                <a:ea typeface="Helvetica Neue"/>
                <a:cs typeface="Helvetica Neue"/>
              </a:rPr>
              <a:t>Kim, G., Humble, J., Debois, P., &amp; Willis, J. (2016).</a:t>
            </a:r>
          </a:p>
        </p:txBody>
      </p:sp>
      <p:sp>
        <p:nvSpPr>
          <p:cNvPr id="4" name="">
            <a:extLst xmlns:a="http://schemas.openxmlformats.org/drawingml/2006/main">
              <a:ext uri="{FF2B5EF4-FFF2-40B4-BE49-F238E27FC236}">
                <a16:creationId xmlns:a16="http://schemas.microsoft.com/office/drawing/2014/main" id="{7C707459-F49F-4A4C-8299-5D2DC29E899B}"/>
              </a:ext>
            </a:extLst>
          </p:cNvPr>
          <p:cNvSpPr>
            <a:spLocks xmlns:a="http://schemas.openxmlformats.org/drawingml/2006/main" noGrp="1"/>
          </p:cNvSpPr>
          <p:nvPr/>
        </p:nvSpPr>
        <p:spPr>
          <a:xfrm xmlns:a="http://schemas.openxmlformats.org/drawingml/2006/main">
            <a:off x="704850" y="200025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7324D"/>
                </a:solidFill>
                <a:latin typeface="Helvetica Neue"/>
                <a:ea typeface="Helvetica Neue"/>
                <a:cs typeface="Helvetica Neue"/>
              </a:defRPr>
            </a:pPr>
            <a:r>
              <a:rPr sz="1725" b="0">
                <a:solidFill>
                  <a:srgbClr val="17324D"/>
                </a:solidFill>
                <a:latin typeface="Helvetica Neue"/>
                <a:ea typeface="Helvetica Neue"/>
                <a:cs typeface="Helvetica Neue"/>
              </a:rPr>
              <a:t>The DevOps handbook: How to create world-class agility, reliability,</a:t>
            </a:r>
          </a:p>
          <a:p xmlns:a="http://schemas.openxmlformats.org/drawingml/2006/main">
            <a:pPr>
              <a:buNone/>
              <a:defRPr sz="1725" b="0">
                <a:solidFill>
                  <a:srgbClr val="17324D"/>
                </a:solidFill>
                <a:latin typeface="Helvetica Neue"/>
                <a:ea typeface="Helvetica Neue"/>
                <a:cs typeface="Helvetica Neue"/>
              </a:defRPr>
            </a:pPr>
            <a:r>
              <a:rPr sz="1725" b="0">
                <a:solidFill>
                  <a:srgbClr val="17324D"/>
                </a:solidFill>
                <a:latin typeface="Helvetica Neue"/>
                <a:ea typeface="Helvetica Neue"/>
                <a:cs typeface="Helvetica Neue"/>
              </a:rPr>
              <a:t>&amp; security in technology organizations. IT Revolution Press.</a:t>
            </a:r>
          </a:p>
        </p:txBody>
      </p:sp>
      <p:sp>
        <p:nvSpPr>
          <p:cNvPr id="5" name="">
            <a:extLst xmlns:a="http://schemas.openxmlformats.org/drawingml/2006/main">
              <a:ext uri="{FF2B5EF4-FFF2-40B4-BE49-F238E27FC236}">
                <a16:creationId xmlns:a16="http://schemas.microsoft.com/office/drawing/2014/main" id="{5BCA3D8D-99E3-46A1-BEFC-E72374AB1894}"/>
              </a:ext>
            </a:extLst>
          </p:cNvPr>
          <p:cNvSpPr>
            <a:spLocks xmlns:a="http://schemas.openxmlformats.org/drawingml/2006/main" noGrp="1"/>
          </p:cNvSpPr>
          <p:nvPr/>
        </p:nvSpPr>
        <p:spPr>
          <a:xfrm xmlns:a="http://schemas.openxmlformats.org/drawingml/2006/main">
            <a:off x="704850" y="2695575"/>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087F8C"/>
                </a:solidFill>
                <a:latin typeface="Helvetica Neue"/>
                <a:ea typeface="Helvetica Neue"/>
                <a:cs typeface="Helvetica Neue"/>
              </a:defRPr>
            </a:pPr>
            <a:r>
              <a:rPr sz="1425" b="0">
                <a:solidFill>
                  <a:srgbClr val="087F8C"/>
                </a:solidFill>
                <a:latin typeface="Helvetica Neue"/>
                <a:ea typeface="Helvetica Neue"/>
                <a:cs typeface="Helvetica Neue"/>
              </a:rPr>
              <a:t>images.itrevolution.com/documents/DevOps_Handbook_Intro_Part1_Part2.pdf</a:t>
            </a:r>
          </a:p>
        </p:txBody>
      </p:sp>
      <p:sp>
        <p:nvSpPr>
          <p:cNvPr id="6" name="">
            <a:extLst xmlns:a="http://schemas.openxmlformats.org/drawingml/2006/main">
              <a:ext uri="{FF2B5EF4-FFF2-40B4-BE49-F238E27FC236}">
                <a16:creationId xmlns:a16="http://schemas.microsoft.com/office/drawing/2014/main" id="{E7A84263-E221-444C-8DE2-DDD6143F25B9}"/>
              </a:ext>
            </a:extLst>
          </p:cNvPr>
          <p:cNvSpPr>
            <a:spLocks xmlns:a="http://schemas.openxmlformats.org/drawingml/2006/main" noGrp="1"/>
          </p:cNvSpPr>
          <p:nvPr/>
        </p:nvSpPr>
        <p:spPr>
          <a:xfrm xmlns:a="http://schemas.openxmlformats.org/drawingml/2006/main">
            <a:off x="704850" y="33623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7324D"/>
                </a:solidFill>
                <a:latin typeface="Helvetica Neue"/>
                <a:ea typeface="Helvetica Neue"/>
                <a:cs typeface="Helvetica Neue"/>
              </a:defRPr>
            </a:pPr>
            <a:r>
              <a:rPr sz="1725" b="1">
                <a:solidFill>
                  <a:srgbClr val="17324D"/>
                </a:solidFill>
                <a:latin typeface="Helvetica Neue"/>
                <a:ea typeface="Helvetica Neue"/>
                <a:cs typeface="Helvetica Neue"/>
              </a:rPr>
              <a:t>DORA. (n.d.). Continuous delivery.</a:t>
            </a:r>
          </a:p>
        </p:txBody>
      </p:sp>
      <p:sp>
        <p:nvSpPr>
          <p:cNvPr id="7" name="">
            <a:extLst xmlns:a="http://schemas.openxmlformats.org/drawingml/2006/main">
              <a:ext uri="{FF2B5EF4-FFF2-40B4-BE49-F238E27FC236}">
                <a16:creationId xmlns:a16="http://schemas.microsoft.com/office/drawing/2014/main" id="{033E963D-FA28-4FEB-814B-6441905C4787}"/>
              </a:ext>
            </a:extLst>
          </p:cNvPr>
          <p:cNvSpPr>
            <a:spLocks xmlns:a="http://schemas.openxmlformats.org/drawingml/2006/main" noGrp="1"/>
          </p:cNvSpPr>
          <p:nvPr/>
        </p:nvSpPr>
        <p:spPr>
          <a:xfrm xmlns:a="http://schemas.openxmlformats.org/drawingml/2006/main">
            <a:off x="704850" y="3743325"/>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087F8C"/>
                </a:solidFill>
                <a:latin typeface="Helvetica Neue"/>
                <a:ea typeface="Helvetica Neue"/>
                <a:cs typeface="Helvetica Neue"/>
              </a:defRPr>
            </a:pPr>
            <a:r>
              <a:rPr sz="1425" b="0">
                <a:solidFill>
                  <a:srgbClr val="087F8C"/>
                </a:solidFill>
                <a:latin typeface="Helvetica Neue"/>
                <a:ea typeface="Helvetica Neue"/>
                <a:cs typeface="Helvetica Neue"/>
              </a:rPr>
              <a:t>dora.dev/capabilities/continuous-delivery/</a:t>
            </a:r>
          </a:p>
        </p:txBody>
      </p:sp>
      <p:sp>
        <p:nvSpPr>
          <p:cNvPr id="8" name="">
            <a:extLst xmlns:a="http://schemas.openxmlformats.org/drawingml/2006/main">
              <a:ext uri="{FF2B5EF4-FFF2-40B4-BE49-F238E27FC236}">
                <a16:creationId xmlns:a16="http://schemas.microsoft.com/office/drawing/2014/main" id="{7516E715-036F-4733-A7C3-C9ED4BF9591C}"/>
              </a:ext>
            </a:extLst>
          </p:cNvPr>
          <p:cNvSpPr>
            <a:spLocks xmlns:a="http://schemas.openxmlformats.org/drawingml/2006/main" noGrp="1"/>
          </p:cNvSpPr>
          <p:nvPr/>
        </p:nvSpPr>
        <p:spPr>
          <a:xfrm xmlns:a="http://schemas.openxmlformats.org/drawingml/2006/main">
            <a:off x="704850" y="44100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7324D"/>
                </a:solidFill>
                <a:latin typeface="Helvetica Neue"/>
                <a:ea typeface="Helvetica Neue"/>
                <a:cs typeface="Helvetica Neue"/>
              </a:defRPr>
            </a:pPr>
            <a:r>
              <a:rPr sz="1725" b="1">
                <a:solidFill>
                  <a:srgbClr val="17324D"/>
                </a:solidFill>
                <a:latin typeface="Helvetica Neue"/>
                <a:ea typeface="Helvetica Neue"/>
                <a:cs typeface="Helvetica Neue"/>
              </a:rPr>
              <a:t>DORA. (n.d.). Working in small batches.</a:t>
            </a:r>
          </a:p>
        </p:txBody>
      </p:sp>
      <p:sp>
        <p:nvSpPr>
          <p:cNvPr id="9" name="">
            <a:extLst xmlns:a="http://schemas.openxmlformats.org/drawingml/2006/main">
              <a:ext uri="{FF2B5EF4-FFF2-40B4-BE49-F238E27FC236}">
                <a16:creationId xmlns:a16="http://schemas.microsoft.com/office/drawing/2014/main" id="{CC1F5B7E-5DFF-4C97-B76E-0D21FEC0C663}"/>
              </a:ext>
            </a:extLst>
          </p:cNvPr>
          <p:cNvSpPr>
            <a:spLocks xmlns:a="http://schemas.openxmlformats.org/drawingml/2006/main" noGrp="1"/>
          </p:cNvSpPr>
          <p:nvPr/>
        </p:nvSpPr>
        <p:spPr>
          <a:xfrm xmlns:a="http://schemas.openxmlformats.org/drawingml/2006/main">
            <a:off x="704850" y="4791075"/>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087F8C"/>
                </a:solidFill>
                <a:latin typeface="Helvetica Neue"/>
                <a:ea typeface="Helvetica Neue"/>
                <a:cs typeface="Helvetica Neue"/>
              </a:defRPr>
            </a:pPr>
            <a:r>
              <a:rPr sz="1425" b="0">
                <a:solidFill>
                  <a:srgbClr val="087F8C"/>
                </a:solidFill>
                <a:latin typeface="Helvetica Neue"/>
                <a:ea typeface="Helvetica Neue"/>
                <a:cs typeface="Helvetica Neue"/>
              </a:rPr>
              <a:t>dora.dev/capabilities/working-in-small-batches/</a:t>
            </a:r>
          </a:p>
        </p:txBody>
      </p:sp>
      <p:sp>
        <p:nvSpPr>
          <p:cNvPr id="10" name="">
            <a:extLst xmlns:a="http://schemas.openxmlformats.org/drawingml/2006/main">
              <a:ext uri="{FF2B5EF4-FFF2-40B4-BE49-F238E27FC236}">
                <a16:creationId xmlns:a16="http://schemas.microsoft.com/office/drawing/2014/main" id="{816AF550-08FB-4892-AC5E-8644B1CD5F19}"/>
              </a:ext>
            </a:extLst>
          </p:cNvPr>
          <p:cNvSpPr>
            <a:spLocks xmlns:a="http://schemas.openxmlformats.org/drawingml/2006/main" noGrp="1"/>
          </p:cNvSpPr>
          <p:nvPr/>
        </p:nvSpPr>
        <p:spPr>
          <a:xfrm xmlns:a="http://schemas.openxmlformats.org/drawingml/2006/main">
            <a:off x="704850" y="54578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7324D"/>
                </a:solidFill>
                <a:latin typeface="Helvetica Neue"/>
                <a:ea typeface="Helvetica Neue"/>
                <a:cs typeface="Helvetica Neue"/>
              </a:defRPr>
            </a:pPr>
            <a:r>
              <a:rPr sz="1725" b="1">
                <a:solidFill>
                  <a:srgbClr val="17324D"/>
                </a:solidFill>
                <a:latin typeface="Helvetica Neue"/>
                <a:ea typeface="Helvetica Neue"/>
                <a:cs typeface="Helvetica Neue"/>
              </a:rPr>
              <a:t>DORA. (2026, January 5). DORA’s software delivery performance metrics.</a:t>
            </a:r>
          </a:p>
        </p:txBody>
      </p:sp>
      <p:sp>
        <p:nvSpPr>
          <p:cNvPr id="11" name="">
            <a:extLst xmlns:a="http://schemas.openxmlformats.org/drawingml/2006/main">
              <a:ext uri="{FF2B5EF4-FFF2-40B4-BE49-F238E27FC236}">
                <a16:creationId xmlns:a16="http://schemas.microsoft.com/office/drawing/2014/main" id="{DEE3801A-DD69-4708-8EAF-BE4D2A75D075}"/>
              </a:ext>
            </a:extLst>
          </p:cNvPr>
          <p:cNvSpPr>
            <a:spLocks xmlns:a="http://schemas.openxmlformats.org/drawingml/2006/main" noGrp="1"/>
          </p:cNvSpPr>
          <p:nvPr/>
        </p:nvSpPr>
        <p:spPr>
          <a:xfrm xmlns:a="http://schemas.openxmlformats.org/drawingml/2006/main">
            <a:off x="704850" y="5838825"/>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087F8C"/>
                </a:solidFill>
                <a:latin typeface="Helvetica Neue"/>
                <a:ea typeface="Helvetica Neue"/>
                <a:cs typeface="Helvetica Neue"/>
              </a:defRPr>
            </a:pPr>
            <a:r>
              <a:rPr sz="1425" b="0">
                <a:solidFill>
                  <a:srgbClr val="087F8C"/>
                </a:solidFill>
                <a:latin typeface="Helvetica Neue"/>
                <a:ea typeface="Helvetica Neue"/>
                <a:cs typeface="Helvetica Neue"/>
              </a:rPr>
              <a:t>dora.dev/guides/dora-metrics/</a:t>
            </a:r>
          </a:p>
        </p:txBody>
      </p:sp>
    </p:spTree>
    <p:extLst>
      <p:ext uri="{BB962C8B-B14F-4D97-AF65-F5344CB8AC3E}">
        <p14:creationId xmlns:p14="http://schemas.microsoft.com/office/powerpoint/2010/main" val="1472579233"/>
      </p:ext>
    </p:extLst>
  </p:cSld>
</p:sld>
</file>

<file path=ppt/slides/slide1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25552FB-1C88-44CD-A47C-073E9CE30662}"/>
              </a:ext>
            </a:extLst>
          </p:cNvPr>
          <p:cNvSpPr>
            <a:spLocks xmlns:a="http://schemas.openxmlformats.org/drawingml/2006/main" noGrp="1"/>
          </p:cNvSpPr>
          <p:nvPr/>
        </p:nvSpPr>
        <p:spPr>
          <a:xfrm xmlns:a="http://schemas.openxmlformats.org/drawingml/2006/main">
            <a:off x="704850" y="5143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24D"/>
                </a:solidFill>
                <a:latin typeface="Helvetica Neue"/>
                <a:ea typeface="Helvetica Neue"/>
                <a:cs typeface="Helvetica Neue"/>
              </a:defRPr>
            </a:pPr>
            <a:r>
              <a:rPr sz="3300" b="1">
                <a:solidFill>
                  <a:srgbClr val="17324D"/>
                </a:solidFill>
                <a:latin typeface="Helvetica Neue"/>
                <a:ea typeface="Helvetica Neue"/>
                <a:cs typeface="Helvetica Neue"/>
              </a:rPr>
              <a:t>AI assistance reference</a:t>
            </a:r>
          </a:p>
        </p:txBody>
      </p:sp>
      <p:sp>
        <p:nvSpPr>
          <p:cNvPr id="2" name="">
            <a:extLst xmlns:a="http://schemas.openxmlformats.org/drawingml/2006/main">
              <a:ext uri="{FF2B5EF4-FFF2-40B4-BE49-F238E27FC236}">
                <a16:creationId xmlns:a16="http://schemas.microsoft.com/office/drawing/2014/main" id="{CF37E340-3F59-48FB-9FF8-C3E2AAB02205}"/>
              </a:ext>
            </a:extLst>
          </p:cNvPr>
          <p:cNvSpPr>
            <a:spLocks xmlns:a="http://schemas.openxmlformats.org/drawingml/2006/main" noGrp="1"/>
          </p:cNvSpPr>
          <p:nvPr/>
        </p:nvSpPr>
        <p:spPr>
          <a:xfrm xmlns:a="http://schemas.openxmlformats.org/drawingml/2006/main">
            <a:off x="704850" y="18573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24D"/>
                </a:solidFill>
                <a:latin typeface="Helvetica Neue"/>
                <a:ea typeface="Helvetica Neue"/>
                <a:cs typeface="Helvetica Neue"/>
              </a:defRPr>
            </a:pPr>
            <a:r>
              <a:rPr sz="2250" b="1">
                <a:solidFill>
                  <a:srgbClr val="17324D"/>
                </a:solidFill>
                <a:latin typeface="Helvetica Neue"/>
                <a:ea typeface="Helvetica Neue"/>
                <a:cs typeface="Helvetica Neue"/>
              </a:rPr>
              <a:t>OpenAI. (2026). Codex [AI assistant].</a:t>
            </a:r>
          </a:p>
        </p:txBody>
      </p:sp>
      <p:sp>
        <p:nvSpPr>
          <p:cNvPr id="3" name="">
            <a:extLst xmlns:a="http://schemas.openxmlformats.org/drawingml/2006/main">
              <a:ext uri="{FF2B5EF4-FFF2-40B4-BE49-F238E27FC236}">
                <a16:creationId xmlns:a16="http://schemas.microsoft.com/office/drawing/2014/main" id="{0794217B-6F01-430D-9ABA-79919318BE67}"/>
              </a:ext>
            </a:extLst>
          </p:cNvPr>
          <p:cNvSpPr>
            <a:spLocks xmlns:a="http://schemas.openxmlformats.org/drawingml/2006/main" noGrp="1"/>
          </p:cNvSpPr>
          <p:nvPr/>
        </p:nvSpPr>
        <p:spPr>
          <a:xfrm xmlns:a="http://schemas.openxmlformats.org/drawingml/2006/main">
            <a:off x="704850" y="242887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087F8C"/>
                </a:solidFill>
                <a:latin typeface="Helvetica Neue"/>
                <a:ea typeface="Helvetica Neue"/>
                <a:cs typeface="Helvetica Neue"/>
              </a:defRPr>
            </a:pPr>
            <a:r>
              <a:rPr sz="1950" b="0">
                <a:solidFill>
                  <a:srgbClr val="087F8C"/>
                </a:solidFill>
                <a:latin typeface="Helvetica Neue"/>
                <a:ea typeface="Helvetica Neue"/>
                <a:cs typeface="Helvetica Neue"/>
              </a:rPr>
              <a:t>https://openai.com/codex/</a:t>
            </a:r>
          </a:p>
        </p:txBody>
      </p:sp>
      <p:sp>
        <p:nvSpPr>
          <p:cNvPr id="4" name="">
            <a:extLst xmlns:a="http://schemas.openxmlformats.org/drawingml/2006/main">
              <a:ext uri="{FF2B5EF4-FFF2-40B4-BE49-F238E27FC236}">
                <a16:creationId xmlns:a16="http://schemas.microsoft.com/office/drawing/2014/main" id="{5717E2F7-F8F3-40C3-8C7D-F1DE35FF457B}"/>
              </a:ext>
            </a:extLst>
          </p:cNvPr>
          <p:cNvSpPr>
            <a:spLocks xmlns:a="http://schemas.openxmlformats.org/drawingml/2006/main" noGrp="1"/>
          </p:cNvSpPr>
          <p:nvPr/>
        </p:nvSpPr>
        <p:spPr>
          <a:xfrm xmlns:a="http://schemas.openxmlformats.org/drawingml/2006/main">
            <a:off x="704850" y="333375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24D"/>
                </a:solidFill>
                <a:latin typeface="Helvetica Neue"/>
                <a:ea typeface="Helvetica Neue"/>
                <a:cs typeface="Helvetica Neue"/>
              </a:defRPr>
            </a:pPr>
            <a:r>
              <a:rPr sz="2175" b="0">
                <a:solidFill>
                  <a:srgbClr val="17324D"/>
                </a:solidFill>
                <a:latin typeface="Helvetica Neue"/>
                <a:ea typeface="Helvetica Neue"/>
                <a:cs typeface="Helvetica Neue"/>
              </a:rPr>
              <a:t>Used October 24, 2026, for research assistance, drafting slide text, creating the illustrative chart, and formatting the presentation.</a:t>
            </a:r>
          </a:p>
        </p:txBody>
      </p:sp>
      <p:sp>
        <p:nvSpPr>
          <p:cNvPr id="5" name="">
            <a:extLst xmlns:a="http://schemas.openxmlformats.org/drawingml/2006/main">
              <a:ext uri="{FF2B5EF4-FFF2-40B4-BE49-F238E27FC236}">
                <a16:creationId xmlns:a16="http://schemas.microsoft.com/office/drawing/2014/main" id="{7D7656F2-8A81-4599-81E9-57857F9945A9}"/>
              </a:ext>
            </a:extLst>
          </p:cNvPr>
          <p:cNvSpPr>
            <a:spLocks xmlns:a="http://schemas.openxmlformats.org/drawingml/2006/main" noGrp="1"/>
          </p:cNvSpPr>
          <p:nvPr/>
        </p:nvSpPr>
        <p:spPr>
          <a:xfrm xmlns:a="http://schemas.openxmlformats.org/drawingml/2006/main">
            <a:off x="704850" y="495300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579"/>
                </a:solidFill>
                <a:latin typeface="Helvetica Neue"/>
                <a:ea typeface="Helvetica Neue"/>
                <a:cs typeface="Helvetica Neue"/>
              </a:defRPr>
            </a:pPr>
            <a:r>
              <a:rPr sz="2025" b="0">
                <a:solidFill>
                  <a:srgbClr val="526579"/>
                </a:solidFill>
                <a:latin typeface="Helvetica Neue"/>
                <a:ea typeface="Helvetica Neue"/>
                <a:cs typeface="Helvetica Neue"/>
              </a:rPr>
              <a:t>The textbook and DORA references support the subject-matter claims.</a:t>
            </a:r>
          </a:p>
        </p:txBody>
      </p:sp>
    </p:spTree>
    <p:extLst>
      <p:ext uri="{BB962C8B-B14F-4D97-AF65-F5344CB8AC3E}">
        <p14:creationId xmlns:p14="http://schemas.microsoft.com/office/powerpoint/2010/main" val="18662941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2026-10-24T16:24:45.2950000Z</dcterms:created>
  <dcterms:modified xsi:type="dcterms:W3CDTF">2026-10-24T16:24:45.2950000Z</dcterms:modified>
</coreProperties>
</file>